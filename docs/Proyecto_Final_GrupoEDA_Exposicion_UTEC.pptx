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8" r:id="rId8"/>
    <p:sldId id="259" r:id="rId9"/>
    <p:sldId id="260" r:id="rId22"/>
    <p:sldId id="261" r:id="rId21"/>
    <p:sldId id="262" r:id="rId20"/>
    <p:sldId id="263" r:id="rId19"/>
    <p:sldId id="264" r:id="rId18"/>
    <p:sldId id="265" r:id="rId17"/>
    <p:sldId id="266" r:id="rId16"/>
    <p:sldId id="267" r:id="rId15"/>
    <p:sldId id="268" r:id="rId14"/>
    <p:sldId id="269" r:id="rId13"/>
    <p:sldId id="270" r:id="rId12"/>
    <p:sldId id="271" r:id="rId11"/>
    <p:sldId id="272" r:id="rId10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Space Grotesk Light"/>
      <p:regular r:id="rId27"/>
      <p:bold r:id="rId28"/>
    </p:embeddedFont>
    <p:embeddedFont>
      <p:font typeface="Space Grotesk Medium"/>
      <p:regular r:id="rId29"/>
      <p:bold r:id="rId30"/>
    </p:embeddedFont>
    <p:embeddedFont>
      <p:font typeface="Space Grotesk"/>
      <p:regular r:id="rId31"/>
      <p:bold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04">
          <p15:clr>
            <a:srgbClr val="747775"/>
          </p15:clr>
        </p15:guide>
        <p15:guide id="2" pos="549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4"/>
        <p:guide pos="5499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01.xml"/><Relationship Id="rId9" Type="http://schemas.openxmlformats.org/officeDocument/2006/relationships/slide" Target="slides/slide102.xml"/><Relationship Id="rId10" Type="http://schemas.openxmlformats.org/officeDocument/2006/relationships/slide" Target="slides/slide15.xml"/><Relationship Id="rId11" Type="http://schemas.openxmlformats.org/officeDocument/2006/relationships/slide" Target="slides/slide14.xml"/><Relationship Id="rId12" Type="http://schemas.openxmlformats.org/officeDocument/2006/relationships/slide" Target="slides/slide13.xml"/><Relationship Id="rId13" Type="http://schemas.openxmlformats.org/officeDocument/2006/relationships/slide" Target="slides/slide12.xml"/><Relationship Id="rId14" Type="http://schemas.openxmlformats.org/officeDocument/2006/relationships/slide" Target="slides/slide11.xml"/><Relationship Id="rId15" Type="http://schemas.openxmlformats.org/officeDocument/2006/relationships/slide" Target="slides/slide10.xml"/><Relationship Id="rId16" Type="http://schemas.openxmlformats.org/officeDocument/2006/relationships/slide" Target="slides/slide9.xml"/><Relationship Id="rId17" Type="http://schemas.openxmlformats.org/officeDocument/2006/relationships/slide" Target="slides/slide8.xml"/><Relationship Id="rId18" Type="http://schemas.openxmlformats.org/officeDocument/2006/relationships/slide" Target="slides/slide7.xml"/><Relationship Id="rId19" Type="http://schemas.openxmlformats.org/officeDocument/2006/relationships/slide" Target="slides/slide6.xml"/><Relationship Id="rId20" Type="http://schemas.openxmlformats.org/officeDocument/2006/relationships/slide" Target="slides/slide5.xml"/><Relationship Id="rId21" Type="http://schemas.openxmlformats.org/officeDocument/2006/relationships/slide" Target="slides/slide4.xml"/><Relationship Id="rId22" Type="http://schemas.openxmlformats.org/officeDocument/2006/relationships/slide" Target="slides/slide3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SpaceGroteskLight-regular.fntdata"/><Relationship Id="rId28" Type="http://schemas.openxmlformats.org/officeDocument/2006/relationships/font" Target="fonts/SpaceGroteskLight-bold.fntdata"/><Relationship Id="rId29" Type="http://schemas.openxmlformats.org/officeDocument/2006/relationships/font" Target="fonts/SpaceGroteskMedium-regular.fntdata"/><Relationship Id="rId30" Type="http://schemas.openxmlformats.org/officeDocument/2006/relationships/font" Target="fonts/SpaceGroteskMedium-bold.fntdata"/><Relationship Id="rId31" Type="http://schemas.openxmlformats.org/officeDocument/2006/relationships/font" Target="fonts/SpaceGrotesk-regular.fntdata"/><Relationship Id="rId32" Type="http://schemas.openxmlformats.org/officeDocument/2006/relationships/font" Target="fonts/SpaceGrotesk-bold.fntdata"/><Relationship Id="rId33" Type="http://schemas.openxmlformats.org/officeDocument/2006/relationships/font" Target="fonts/OpenSans-regular.fntdata"/><Relationship Id="rId34" Type="http://schemas.openxmlformats.org/officeDocument/2006/relationships/font" Target="fonts/OpenSans-bold.fntdata"/><Relationship Id="rId35" Type="http://schemas.openxmlformats.org/officeDocument/2006/relationships/font" Target="fonts/OpenSans-italic.fntdata"/><Relationship Id="rId36" Type="http://schemas.openxmlformats.org/officeDocument/2006/relationships/font" Target="fonts/OpenSans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Louvain</c:v>
                </c:pt>
              </c:strCache>
            </c:strRef>
          </c:tx>
          <c:spPr>
            <a:solidFill>
              <a:srgbClr val="00E1FF"/>
            </a:solidFill>
          </c:spPr>
          <c:cat>
            <c:strRef>
              <c:f>Sheet1!$A$2:$A$3</c:f>
              <c:strCache>
                <c:ptCount val="2"/>
                <c:pt idx="0">
                  <c:v>Modularidad</c:v>
                </c:pt>
                <c:pt idx="1">
                  <c:v>Estabilidad (ARI)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0.868</c:v>
                </c:pt>
                <c:pt idx="1">
                  <c:v>0.723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Prop. de etiquetas</c:v>
                </c:pt>
              </c:strCache>
            </c:strRef>
          </c:tx>
          <c:spPr>
            <a:solidFill>
              <a:srgbClr val="4E4B4C"/>
            </a:solidFill>
          </c:spPr>
          <c:cat>
            <c:strRef>
              <c:f>Sheet1!$A$2:$A$3</c:f>
              <c:strCache>
                <c:ptCount val="2"/>
                <c:pt idx="0">
                  <c:v>Modularidad</c:v>
                </c:pt>
                <c:pt idx="1">
                  <c:v>Estabilidad (ARI)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0.673</c:v>
                </c:pt>
                <c:pt idx="1">
                  <c:v>0.562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6D6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4E4B4C"/>
          </a:solidFill>
          <a:latin typeface="Space Grotesk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Estructura avanzada</c:v>
                </c:pt>
              </c:strCache>
            </c:strRef>
          </c:tx>
          <c:spPr>
            <a:solidFill>
              <a:srgbClr val="00E1FF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1000" b="1">
                    <a:solidFill>
                      <a:srgbClr val="4E4B4C"/>
                    </a:solidFill>
                    <a:latin typeface="Space Grotesk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Bloom / set</c:v>
                </c:pt>
                <c:pt idx="1">
                  <c:v>CMS / Counter</c:v>
                </c:pt>
                <c:pt idx="2">
                  <c:v>LSH / Jaccard</c:v>
                </c:pt>
                <c:pt idx="3">
                  <c:v>HNSW* / KNN</c:v>
                </c:pt>
                <c:pt idx="4">
                  <c:v>PageRank / grado</c:v>
                </c:pt>
                <c:pt idx="5">
                  <c:v>Louvain / LPA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7.142</c:v>
                </c:pt>
                <c:pt idx="1">
                  <c:v>16.1</c:v>
                </c:pt>
                <c:pt idx="2">
                  <c:v>55.333</c:v>
                </c:pt>
                <c:pt idx="3">
                  <c:v>1427.325</c:v>
                </c:pt>
                <c:pt idx="4">
                  <c:v>5.85</c:v>
                </c:pt>
                <c:pt idx="5">
                  <c:v>93.609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exacto o simple</c:v>
                </c:pt>
              </c:strCache>
            </c:strRef>
          </c:tx>
          <c:spPr>
            <a:solidFill>
              <a:srgbClr val="4E4B4C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Space Grotesk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Bloom / set</c:v>
                </c:pt>
                <c:pt idx="1">
                  <c:v>CMS / Counter</c:v>
                </c:pt>
                <c:pt idx="2">
                  <c:v>LSH / Jaccard</c:v>
                </c:pt>
                <c:pt idx="3">
                  <c:v>HNSW* / KNN</c:v>
                </c:pt>
                <c:pt idx="4">
                  <c:v>PageRank / grado</c:v>
                </c:pt>
                <c:pt idx="5">
                  <c:v>Louvain / LPA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0.519</c:v>
                </c:pt>
                <c:pt idx="1">
                  <c:v>0.48</c:v>
                </c:pt>
                <c:pt idx="2">
                  <c:v>6.167</c:v>
                </c:pt>
                <c:pt idx="3">
                  <c:v>19.221</c:v>
                </c:pt>
                <c:pt idx="4">
                  <c:v>1.65</c:v>
                </c:pt>
                <c:pt idx="5">
                  <c:v>43.846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6D6D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min"/>
        <c:auto val="1"/>
        <c:lblAlgn val="ctr"/>
        <c:lblOffset val="100"/>
        <c:noMultiLvlLbl val="0"/>
      </c:catAx>
      <c:valAx>
        <c:axId val="-2113994440"/>
        <c:scaling>
          <c:logBase val="10"/>
          <c:max val="10000.0"/>
          <c:min val="0.01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4E4B4C"/>
          </a:solidFill>
          <a:latin typeface="Space Grotesk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Jesús · 0:45</a:t>
            </a:r>
          </a:p>
          <a:p>
            <a:r>
              <a:t>Recorrer las diez etapas de izquierda a derecha y de arriba abajo. Cada tarjeta indica quién la expone.</a:t>
            </a:r>
          </a:p>
          <a:p>
            <a:r>
              <a:t>• 0→1: lote completo desde el búfer FIFO. 1→2: eventos válidos, únicos y ordenados. 2→3: atención por prioridad. 3→4: registros que alimentan catálogo e índice de precios. 4→5→6: candidatos por rango y vecinos exactos; luego se verifica el riesgo. 6→7→8: SOLO los eventos aceptados enriquecen similitud y co-compra. 8→9: PageRank, comunidades y candidatos para la salida.</a:t>
            </a:r>
          </a:p>
          <a:p>
            <a:r>
              <a:t>• Etapas [FIJA] de la rúbrica: 6, 7 y 8.</a:t>
            </a:r>
          </a:p>
          <a:p>
            <a:r>
              <a:t>• Estado entre lotes: FIFO y heap se vacían; eventos e historial en SQLite; B+ en disco; catálogo, vectores y grafo en RAM.</a:t>
            </a:r>
          </a:p>
          <a:p>
            <a:r>
              <a:t>POSIBLE PREGUNTA: ¿qué pasa con un evento marcado para revisión? (no sigue a 7 y 8).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Jesús · 0:40</a:t>
            </a:r>
          </a:p>
          <a:p>
            <a:r>
              <a:t>• Dataset real REES46 (Kaggle, oct–nov 2019): vistas, carrito y compras. Se reproduce desde Parquet como stream finito de microlotes.</a:t>
            </a:r>
          </a:p>
          <a:p>
            <a:r>
              <a:t>• El CSV no trae order_id ni etiquetas de fraude: por eso hay 8 eventos simulados (is_simulated=true), declarados y desactivables con --sin-escenario.</a:t>
            </a:r>
          </a:p>
          <a:p>
            <a:r>
              <a:t>• Corrida guardada: 1.000 originales + 8 simulados = 1.008 eventos, 3 lotes, 0 rechazos, 0 duplicados, 2 alertas.</a:t>
            </a:r>
          </a:p>
          <a:p>
            <a:r>
              <a:t>• Esto demuestra el caso local; NO prueba detección de fraude real ni rendimiento de producción.</a:t>
            </a:r>
          </a:p>
          <a:p>
            <a:r>
              <a:t>POSIBLES PREGUNTAS: ¿por qué no hay fraude real? (no hay etiquetas; la alerta es una regla verificable). ¿Qué es is_simulated? ¿Por qué la compra sin orden no genera co-compra? (no se inventan pares).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2d191d51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2d191d5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EXPONE: Jesús · 0:10</a:t>
            </a:r>
          </a:p>
          <a:p>
            <a:r>
              <a:t>Saludo y presentación del equipo. Tema: pipeline de 10 etapas para comercio electrónico (Opción B de la rúbrica). Anunciar el reparto: Jesús etapas 0–2, Erik 3–4, Mentor 5–6, Guillermo 7–9 y la demo.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ec70023fc_1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8ec70023fc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EXPONE: Jesús · 0:20</a:t>
            </a:r>
          </a:p>
          <a:p>
            <a:r>
              <a:t>Cada integrante responde por al menos dos etapas y las expone. Las preguntas finales pueden ser sobre cualquier etapa, por eso todos deben dominar el flujo completo 0→9.</a:t>
            </a:r>
          </a:p>
          <a:p>
            <a:r>
              <a:t>Orden: Jesús (0–2) → Erik (3–4) → Mentor (5–6) → Guillermo (7–9 + demo) → Jesús cierra con evidencia y conclusiones.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Jesús · 0:50</a:t>
            </a:r>
          </a:p>
          <a:p>
            <a:r>
              <a:t>• Etapa 0 FIFO: collections.deque con capacidad del lote; encolar y extraer O(1). Se eligió sobre list.pop(0), que desplaza elementos O(n). Es un búfer local y secuencial, sin productores concurrentes.</a:t>
            </a:r>
          </a:p>
          <a:p>
            <a:r>
              <a:t>• Etapa 1: valida columnas, fechas UTC y precios finitos no negativos (precio 0 es válido). Deduplica dentro del lote y contra el historial exacto en SQLite. Timsort O(b log b); búsqueda binaria sobre un subconjunto histórico ordenado.</a:t>
            </a:r>
          </a:p>
          <a:p>
            <a:r>
              <a:t>• Etapa 2: MinHeap con tupla (prioridad, fecha, contador): el contador desempata sin comparar diccionarios. Alertas de pago antes que compras. Vaciar el lote cuesta O(b log b): su ventaja es la atención incremental por prioridad, no ordenar más rápido.</a:t>
            </a:r>
          </a:p>
          <a:p>
            <a:r>
              <a:t>• Tiempos 1K×100 (total de la etapa): FIFO 0,180 ms; preprocesamiento 3,553 ms; heap 2,740 ± 3,209 ms.</a:t>
            </a:r>
          </a:p>
          <a:p>
            <a:r>
              <a:t>POSIBLES PREGUNTAS: ¿por qué heap y no ordenar todo? ¿qué pasa si dos eventos tienen igual prioridad y fecha? (contador). ¿Por qué deque? ¿Dónde se deduplica entre lotes? (historial en SQLite).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Erik · 1:00</a:t>
            </a:r>
          </a:p>
          <a:p>
            <a:r>
              <a:t>• Hash reciente + caché LRU (OrderedDict) con capacidad explícita (100 en el pipeline): operaciones en RAM con costo esperado O(1).</a:t>
            </a:r>
          </a:p>
          <a:p>
            <a:r>
              <a:t>• SQLite conserva los eventos completos; sus accesos NO se describen como O(1).</a:t>
            </a:r>
          </a:p>
          <a:p>
            <a:r>
              <a:t>• Coherencia: put_storage escribe el evento e invalida la copia cacheada. Consulta devuelve HIT, MISS o NOT_FOUND; se distingue un diccionario vacío válido de la ausencia de datos.</a:t>
            </a:r>
          </a:p>
          <a:p>
            <a:r>
              <a:t>• Salida: registros recuperables que alimentan el catálogo (primer precio observado) y el índice B+ de la etapa 4.</a:t>
            </a:r>
          </a:p>
          <a:p>
            <a:r>
              <a:t>• Medición 1K×100: 0,852 ± 0,111 ms; memoria actual 274,2 KiB, pico 275,1 KiB.</a:t>
            </a:r>
          </a:p>
          <a:p>
            <a:r>
              <a:t>POSIBLES PREGUNTAS: ¿por qué LRU y no FIFO? ¿qué pasa si reemplazo un registro? (se invalida la caché). ¿Por qué SQLite no es O(1)? ¿Qué pasa en un MISS? (se lee de SQLite).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Erik · 1:15</a:t>
            </a:r>
          </a:p>
          <a:p>
            <a:r>
              <a:t>• Árbol B+ PROPIO: el algoritmo decide separadores, divisiones y recorrido de hojas. SQLite solo almacena páginas por ID y metadatos; no sustituye el algoritmo.</a:t>
            </a:r>
          </a:p>
          <a:p>
            <a:r>
              <a:t>• Clave compuesta (precio, product_id): permite consultar rangos inclusivos sin confundir productos con igual precio.</a:t>
            </a:r>
          </a:p>
          <a:p>
            <a:r>
              <a:t>• Costo: búsqueda O(log_B n) páginas; un rango añade las páginas y resultados recorridos por las hojas enlazadas.</a:t>
            </a:r>
          </a:p>
          <a:p>
            <a:r>
              <a:t>• Una caché de páginas limita su residencia en RAM. No se implementa borrado. Pruebas: invariantes, hojas enlazadas, búsqueda, rangos y reapertura.</a:t>
            </a:r>
          </a:p>
          <a:p>
            <a:r>
              <a:t>• El catálogo conserva el PRIMER precio observado como referencia inmutable: no representa stock ni precio actual.</a:t>
            </a:r>
          </a:p>
          <a:p>
            <a:r>
              <a:t>• Medición 1K×100: 153,439 ± 5,470 ms (incluye disco); memoria 63,1 KiB.</a:t>
            </a:r>
          </a:p>
          <a:p>
            <a:r>
              <a:t>POSIBLES PREGUNTAS: ¿por qué B+ y no B-Tree o hash? (rangos por hojas enlazadas). ¿Por qué clave compuesta? ¿Por qué es más lento que el hash? (disco). ¿Qué aporta a la etapa 9? (candidatos por rango de precio).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Mentor · 1:00</a:t>
            </a:r>
          </a:p>
          <a:p>
            <a:r>
              <a:t>• Cada producto es un vector de 17 dimensiones: precio logarítmico normalizado + buckets estables de categoría y marca (hash; puede haber colisiones). NO son embeddings semánticos.</a:t>
            </a:r>
          </a:p>
          <a:p>
            <a:r>
              <a:t>• KD-Tree: particiona los vectores y poda ramas según la distancia. Construcción por ordenación recursiva O(n log² n); una consulta puede recorrer todos los puntos.</a:t>
            </a:r>
          </a:p>
          <a:p>
            <a:r>
              <a:t>• Línea base: KNN exhaustivo con la MISMA distancia y excluyendo el propio ID. El pipeline compara kd_coincide (KD == exacto).</a:t>
            </a:r>
          </a:p>
          <a:p>
            <a:r>
              <a:t>• Salida: vecinos exactos que se combinan en la etapa 9 con el resto de señales.</a:t>
            </a:r>
          </a:p>
          <a:p>
            <a:r>
              <a:t>• Medición 1K×100: 13,902 ± 0,917 ms (construcción + consultas + verificación); memoria 93,2 KiB. No comparar directamente con el KNN de la etapa 7: son cargas distintas.</a:t>
            </a:r>
          </a:p>
          <a:p>
            <a:r>
              <a:t>POSIBLES PREGUNTAS: ¿por qué KD-Tree y no R-Tree? ¿Qué pasa en alta dimensión? (la poda pierde fuerza). ¿Por qué es exacto? ¿En qué se diferencia de HNSW? (HNSW es aproximado).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Mentor · 1:30</a:t>
            </a:r>
          </a:p>
          <a:p>
            <a:r>
              <a:t>• Bloom: m = ceil(−n·ln p/(ln 2)²) bits y k ≈ (m/n)·ln 2 hashes. Insertar y consultar O(k). Un positivo puede ser FALSO y se confirma con un conjunto exacto; un negativo descarta pertenencia de lo insertado.</a:t>
            </a:r>
          </a:p>
          <a:p>
            <a:r>
              <a:t>• CMS: matriz uint64 de 5 filas × ancho 2.000; estima con el mínimo de sus filas. Actualizar/consultar O(d), espacio O(d·w). Puede SOBREESTIMAR; un contador exacto confirma la decisión.</a:t>
            </a:r>
          </a:p>
          <a:p>
            <a:r>
              <a:t>• Política: clave = cuenta; ventana = 300 s; umbral = 3 intentos. La ventana avanza con la mayor fecha observada; un heap temporal caduca registros y el CMS se reconstruye al caducar (no es O(1)).</a:t>
            </a:r>
          </a:p>
          <a:p>
            <a:r>
              <a:t>• Una alerta significa REVISAR, no bloquear: la rúbrica exige verificar antes de bloquear. Los eventos en revisión no alimentan las etapas 7 y 8.</a:t>
            </a:r>
          </a:p>
          <a:p>
            <a:r>
              <a:t>• Resultados 1K×100: Bloom FP = 0,600 % sin falsos negativos; CMS error absoluto medio 0,002976, sobreestimación máx. 1. Bloom 7,142 ms / 1,2 KiB vs set 0,519 ms / 48,0 KiB; CMS 16,100 ms / 78,3 KiB vs Counter 0,480 ms / 33,9 KiB.</a:t>
            </a:r>
          </a:p>
          <a:p>
            <a:r>
              <a:t>• Son pruebas de estructuras, no métricas de fraude real. A esta escala los nativos son más rápidos; Bloom sí ahorra memoria.</a:t>
            </a:r>
          </a:p>
          <a:p>
            <a:r>
              <a:t>POSIBLES PREGUNTAS: ¿por qué no bloquear con un positivo de Bloom? ¿por qué esa clave y esa ventana? ¿CMS puede subestimar? (no, salvo overflow). ¿Cómo se eligen m y k? ¿Qué pasa con eventos tardíos?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Guillermo · 1:00</a:t>
            </a:r>
          </a:p>
          <a:p>
            <a:r>
              <a:t>• Familia 2, MinHash + LSH (conjuntos): firma de 64 mínimos hash; LSH divide en 16 bandas de 4 filas y recupera candidatos de buckets con bandas coincidentes. Probabilidad idealizada 1−(1−s^r)^b. Canastas por usuario (hasta 10.000 cuentas activas). Control: Jaccard exacto con umbral 0,3. 307 conjuntos, 5 consultas: recall y precisión 1,000. Tiempo 55,333 ms vs 6,167 ms del Jaccard exacto.</a:t>
            </a:r>
          </a:p>
          <a:p>
            <a:r>
              <a:t>• Familia 3, HNSW (vectores): grafo de proximidad multicapa propio (educativo, sin todas las optimizaciones de hnswlib/FAISS). M=8, ef_construction=48, ef_search=32, semilla 42, 17 dimensiones. Control: KNN exacto sobre los mismos vectores, k=5. Recall@5 = 1,000 para 672 productos (también con empates).</a:t>
            </a:r>
          </a:p>
          <a:p>
            <a:r>
              <a:t>• Punto clave: construir el índice cuesta 1.423 ± 41 ms, mucho más que resolver las 5 consultas exactas (19,2 ms); HNSW tarda 3,7 ms en esas 5 consultas. La conveniencia depende de cuántas consultas reutilicen el índice. No sumar construcción y consulta para declarar ventaja por petición.</a:t>
            </a:r>
          </a:p>
          <a:p>
            <a:r>
              <a:t>• La muestra es pequeña: no demuestra calidad universal.</a:t>
            </a:r>
          </a:p>
          <a:p>
            <a:r>
              <a:t>POSIBLES PREGUNTAS: ¿por qué MinHash y no SimHash? ¿cómo afectan bandas y filas a la probabilidad? ¿qué es recall@K? ¿por qué HNSW y no IVF? ¿qué hacen M y ef?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Guillermo · 1:00</a:t>
            </a:r>
          </a:p>
          <a:p>
            <a:r>
              <a:t>• Grafo producto–producto: una orden explícita (order_id) enlaza cada pareja de artículos una sola vez; nuevas órdenes aumentan el peso. Compras sin order_id (6 en la demo) se cuentan aparte y NO generan pares de co-compra.</a:t>
            </a:r>
          </a:p>
          <a:p>
            <a:r>
              <a:t>• Demo: 2 órdenes controladas. Experimentos: órdenes SIMULADAS agrupando de 3 en 3 product_id consecutivos. Grafo 1K: 672 nodos y 997 aristas; ambos algoritmos reciben el mismo grafo.</a:t>
            </a:r>
          </a:p>
          <a:p>
            <a:r>
              <a:t>• Familia 4, PageRank (amortiguación 0,85, NetworkX): costo ≈ O(I·(V+E)). Alternativa simple: grado ponderado. El top-20 coincide en 0,900; es un acuerdo, no precisión de ventas ni NDCG (no hay etiquetas de relevancia).</a:t>
            </a:r>
          </a:p>
          <a:p>
            <a:r>
              <a:t>• Familia 5, Louvain vs propagación de etiquetas: modularidad 0,868 ± 0,001 vs 0,673 ± 0,008; estabilidad (ARI vs la primera corrida) 0,723 ± 0,064 vs 0,562 ± 0,051; comunidades 69,25 ± 0,89 vs 182,63 ± 4,53. ARI no es validación contra comunidades verdaderas. Conclusión válida solo para este grafo simulado.</a:t>
            </a:r>
          </a:p>
          <a:p>
            <a:r>
              <a:t>POSIBLES PREGUNTAS: ¿por qué order_id y no sesión? ¿qué mide la modularidad? ¿por qué PageRank y no grado? ¿qué es ARI y por qué varía la semilla (42+repetición)?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Guillermo · 0:45 de explicación + DEMO 3:00</a:t>
            </a:r>
          </a:p>
          <a:p>
            <a:r>
              <a:t>• Etapa 9: el Trie devuelve coincidencias por prefijo (autocompletado); el heap Top-K cuenta compras aceptadas, O(p log k). La función recommend() combina vecinos exactos KD, rango de precios B+, co-compra, canastas similares, ANN y PageRank, y muestra el ORIGEN de cada puntaje. Los pesos son demostrativos: sin validación de conversión comercial.</a:t>
            </a:r>
          </a:p>
          <a:p>
            <a:r>
              <a:t>• Corrida guardada: 1.000 + 8 eventos, 3 lotes, 0 rechazos, 2 alertas, 12 compras aceptadas (6 sin orden explícita).</a:t>
            </a:r>
          </a:p>
          <a:p>
            <a:r>
              <a:t>GUION DE LA DEMO (python main.py → http://127.0.0.1:8765):</a:t>
            </a:r>
          </a:p>
          <a:p>
            <a:r>
              <a:t>1) Ejecutar y elegir una pausa didáctica por etapa. 2) Seguir un lote: FIFO → heap → SQLite → índices. 3) En la etapa 6 mostrar las 2 alertas de revisión de la cuenta simulada; el resto sigue su camino. 4) Consultas: rango de precio, prefijo y Top-K; abrir una recomendación y leer sus señales.</a:t>
            </a:r>
          </a:p>
          <a:p>
            <a:r>
              <a:t>Las pausas y animaciones del visor NO son un benchmark. Detener conserva los lotes ya procesados. PLAN B si falla el visor: mostrar output/results/last_pipeline.json (o ejecutar con --sin-visor).</a:t>
            </a:r>
          </a:p>
          <a:p>
            <a:r>
              <a:t>POSIBLES PREGUNTAS: ¿cómo se combinan las señales y con qué pesos? ¿qué hace el Trie? ¿por qué un heap para Top-K y no ordenar todo?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Jesús · 0:45</a:t>
            </a:r>
          </a:p>
          <a:p>
            <a:r>
              <a:t>• 19 algoritmos o controles × 100 repeticiones = 1.900 mediciones. Plataforma Windows 11, Python 3.14.4, semilla base 42. Memoria actual y pico con tracemalloc. Cada fila resume su propia carga; las diferencias entre filas no prueban que una estructura sustituya a otra.</a:t>
            </a:r>
          </a:p>
          <a:p>
            <a:r>
              <a:t>• Cada familia se compara con una referencia exacta o simple: Bloom/set, CMS/Counter, MinHash+LSH/Jaccard, HNSW/KNN, PageRank/grado, Louvain/propagación de etiquetas.</a:t>
            </a:r>
          </a:p>
          <a:p>
            <a:r>
              <a:t>• Lectura: en 1K los nativos (set, Counter, Jaccard, grado) son más rápidos; HNSW incluye la construcción del índice (1.423 ms) y sus consultas son más rápidas (3,7 vs 19,2 ms). Calidad y costo se analizan juntos.</a:t>
            </a:r>
          </a:p>
          <a:p>
            <a:r>
              <a:t>• Calidad: Bloom FP 0,600 %; LSH recall y precisión 1,000; HNSW recall@5 1,000; PageRank vs grado 0,900 de solapamiento en top-20.</a:t>
            </a:r>
          </a:p>
          <a:p>
            <a:r>
              <a:t>POSIBLES PREGUNTAS: ¿por qué 100 repeticiones? (variación de ejecución sobre carga fija, no 100 muestras independientes). ¿Qué mide tracemalloc? (asignaciones Python, no la RAM total).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Jesús · 0:30</a:t>
            </a:r>
          </a:p>
          <a:p>
            <a:r>
              <a:t>• Se completó una pasada funcional por archivo en 10K, 100K, 1M y 10M. Bloom, set, CMS y Counter recibieron las claves de todos los eventos. La analítica se recortó a 300 vectores y 300 conjuntos; los grafos se construyeron con 900 eventos.</a:t>
            </a:r>
          </a:p>
          <a:p>
            <a:r>
              <a:t>• Claves distintas: 4.270 (10K), 20.675 (100K), 66.001 (1M), 133.917 (10M).</a:t>
            </a:r>
          </a:p>
          <a:p>
            <a:r>
              <a:t>• Gráfica log-log: tiempo de construcción + consultas vs eventos insertados. Una sola repetición por escala: no se puede calcular una desviación estándar representativa ni sacar conclusiones estadísticas. La rúbrica pide 100 repeticiones cuando sea viable y justificar menos en 10M; esta es una LIMITACIÓN que decimos de frente.</a:t>
            </a:r>
          </a:p>
          <a:p>
            <a:r>
              <a:t>• La figura NO representa escalabilidad de HNSW, LSH ni comunidades a 10M entidades.</a:t>
            </a:r>
          </a:p>
          <a:p>
            <a:r>
              <a:t>POSIBLES PREGUNTAS: ¿por qué 1 repetición? ¿por qué la analítica está recortada? ¿qué se concluye de la gráfica? (solo comportamiento observado de filtrado y conteo).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EXPONE: Jesús · 0:30</a:t>
            </a:r>
          </a:p>
          <a:p>
            <a:r>
              <a:t>Cerrar con los cuatro mensajes y agradecer. Abrir a preguntas: recordar que cada integrante responde sobre cualquier etapa.</a:t>
            </a:r>
          </a:p>
          <a:p>
            <a:r>
              <a:t>1) Pipeline integrado: 10 etapas conectadas por salidas reales; 11 pruebas automatizadas pasan.</a:t>
            </a:r>
          </a:p>
          <a:p>
            <a:r>
              <a:t>2) Construir ≠ consultar: HNSW 1.423 ms para construir vs 3,7 ms en 5 consultas.</a:t>
            </a:r>
          </a:p>
          <a:p>
            <a:r>
              <a:t>3) Tiempo y memoria: en 1K los nativos ganan en tiempo; Bloom ocupó 1,2 KiB vs 48 KiB del set.</a:t>
            </a:r>
          </a:p>
          <a:p>
            <a:r>
              <a:t>4) Límites honestos: sin órdenes reales ni etiquetas de fraude o relevancia; 10M exploratorio con 1 repetición.</a:t>
            </a:r>
          </a:p>
          <a:p>
            <a:r>
              <a:t>Trabajo futuro: más repeticiones y poblaciones en escalas mayores, sensibilidad de parámetros y datos con relevancia conocida.</a:t>
            </a:r>
          </a:p>
          <a:p>
            <a:r>
              <a:t>REPASO PARA TODOS (preguntas cruzadas): qué entra y sale de cada etapa, por qué cada estructura (frente a la alternativa), qué significan los resultados (FP de Bloom, recall, modularidad, ARI) y qué NO se puede concluir.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2.jp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versión oscuro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04250" y="-50300"/>
            <a:ext cx="9352500" cy="5321100"/>
          </a:xfrm>
          <a:prstGeom prst="rect">
            <a:avLst/>
          </a:prstGeom>
          <a:solidFill>
            <a:srgbClr val="4D4B4C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75681" y="2006369"/>
            <a:ext cx="5192637" cy="1257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versión claro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-104250" y="-96000"/>
            <a:ext cx="9352500" cy="5366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79700" y="2193150"/>
            <a:ext cx="4586399" cy="8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8622" y="4422472"/>
            <a:ext cx="378013" cy="4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-102800" y="-50025"/>
            <a:ext cx="9352500" cy="5326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32000"/>
          </a:blip>
          <a:srcRect b="15505" l="0" r="1117" t="0"/>
          <a:stretch/>
        </p:blipFill>
        <p:spPr>
          <a:xfrm>
            <a:off x="-104250" y="-59600"/>
            <a:ext cx="9352499" cy="5330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4"/>
          <p:cNvGrpSpPr/>
          <p:nvPr/>
        </p:nvGrpSpPr>
        <p:grpSpPr>
          <a:xfrm>
            <a:off x="397288" y="360350"/>
            <a:ext cx="8352312" cy="400150"/>
            <a:chOff x="314313" y="360350"/>
            <a:chExt cx="8352312" cy="400150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" name="Google Shape;2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-50750" y="-75000"/>
            <a:ext cx="9248400" cy="5293500"/>
          </a:xfrm>
          <a:prstGeom prst="rect">
            <a:avLst/>
          </a:prstGeom>
          <a:solidFill>
            <a:srgbClr val="4D4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" name="Google Shape;31;p5"/>
          <p:cNvGrpSpPr/>
          <p:nvPr/>
        </p:nvGrpSpPr>
        <p:grpSpPr>
          <a:xfrm>
            <a:off x="397288" y="360350"/>
            <a:ext cx="8352312" cy="400150"/>
            <a:chOff x="314313" y="360350"/>
            <a:chExt cx="8352312" cy="400150"/>
          </a:xfrm>
        </p:grpSpPr>
        <p:pic>
          <p:nvPicPr>
            <p:cNvPr id="32" name="Google Shape;32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-104250" y="-71775"/>
            <a:ext cx="9352500" cy="53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6"/>
          <p:cNvGrpSpPr/>
          <p:nvPr/>
        </p:nvGrpSpPr>
        <p:grpSpPr>
          <a:xfrm>
            <a:off x="395800" y="360350"/>
            <a:ext cx="8352401" cy="400150"/>
            <a:chOff x="314225" y="360350"/>
            <a:chExt cx="8352401" cy="400150"/>
          </a:xfrm>
        </p:grpSpPr>
        <p:pic>
          <p:nvPicPr>
            <p:cNvPr id="38" name="Google Shape;38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393325" y="360350"/>
              <a:ext cx="1273301" cy="40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225" y="409100"/>
              <a:ext cx="1573350" cy="30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" name="Google Shape;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8622" y="4422472"/>
            <a:ext cx="378013" cy="4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_Blanco">
  <p:cSld name="BLANK_1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2398650" y="1744275"/>
            <a:ext cx="43467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" name="Google Shape;54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5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Contexto y alcance del sistema</a:t>
            </a:r>
          </a:p>
        </p:txBody>
      </p:sp>
      <p:sp>
        <p:nvSpPr>
          <p:cNvPr id="109" name="Cifra 1"/>
          <p:cNvSpPr/>
          <p:nvPr/>
        </p:nvSpPr>
        <p:spPr>
          <a:xfrm>
            <a:off x="548640" y="141732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8640" y="146304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7C8A"/>
                </a:solidFill>
                <a:latin typeface="Space Grotesk"/>
              </a:rPr>
              <a:t>1.008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19202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eventos procesados</a:t>
            </a:r>
          </a:p>
        </p:txBody>
      </p:sp>
      <p:sp>
        <p:nvSpPr>
          <p:cNvPr id="112" name="Cifra 2"/>
          <p:cNvSpPr/>
          <p:nvPr/>
        </p:nvSpPr>
        <p:spPr>
          <a:xfrm>
            <a:off x="2606040" y="141732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606040" y="146304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7C8A"/>
                </a:solidFill>
                <a:latin typeface="Space Grotesk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06040" y="19202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microlotes</a:t>
            </a:r>
          </a:p>
        </p:txBody>
      </p:sp>
      <p:sp>
        <p:nvSpPr>
          <p:cNvPr id="115" name="Cifra 3"/>
          <p:cNvSpPr/>
          <p:nvPr/>
        </p:nvSpPr>
        <p:spPr>
          <a:xfrm>
            <a:off x="4663440" y="141732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63440" y="146304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7C8A"/>
                </a:solidFill>
                <a:latin typeface="Space Grotesk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63440" y="19202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alertas de revisión</a:t>
            </a:r>
          </a:p>
        </p:txBody>
      </p:sp>
      <p:sp>
        <p:nvSpPr>
          <p:cNvPr id="118" name="Cifra 4"/>
          <p:cNvSpPr/>
          <p:nvPr/>
        </p:nvSpPr>
        <p:spPr>
          <a:xfrm>
            <a:off x="6720840" y="141732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720840" y="146304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7C8A"/>
                </a:solidFill>
                <a:latin typeface="Space Grotesk"/>
              </a:rPr>
              <a:t>0 / 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720840" y="19202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rechazos / duplicados</a:t>
            </a:r>
          </a:p>
        </p:txBody>
      </p:sp>
      <p:sp>
        <p:nvSpPr>
          <p:cNvPr id="121" name="Qué entra"/>
          <p:cNvSpPr/>
          <p:nvPr/>
        </p:nvSpPr>
        <p:spPr>
          <a:xfrm>
            <a:off x="548640" y="246888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31520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7C8A"/>
                </a:solidFill>
                <a:latin typeface="Space Grotesk"/>
              </a:rPr>
              <a:t>Qué entra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1520" y="2880360"/>
            <a:ext cx="3611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200" b="1" i="0">
                <a:solidFill>
                  <a:srgbClr val="4E4B4C"/>
                </a:solidFill>
                <a:latin typeface="Space Grotesk"/>
              </a:rPr>
              <a:t>REES46 (Kaggle, 2019): </a:t>
            </a:r>
            <a:r>
              <a:rPr sz="1200" b="0" i="0">
                <a:solidFill>
                  <a:srgbClr val="4E4B4C"/>
                </a:solidFill>
                <a:latin typeface="Space Grotesk"/>
              </a:rPr>
              <a:t>vistas, carrito y compras con precio, marca y sesión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200" b="0" i="0">
                <a:solidFill>
                  <a:srgbClr val="4E4B4C"/>
                </a:solidFill>
                <a:latin typeface="Space Grotesk"/>
              </a:rPr>
              <a:t>Histórico reproducido desde Parquet como stream finito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200" b="0" i="0">
                <a:solidFill>
                  <a:srgbClr val="4E4B4C"/>
                </a:solidFill>
                <a:latin typeface="Space Grotesk"/>
              </a:rPr>
              <a:t>Sin </a:t>
            </a:r>
            <a:r>
              <a:rPr sz="1200" b="1" i="0">
                <a:solidFill>
                  <a:srgbClr val="4E4B4C"/>
                </a:solidFill>
                <a:latin typeface="Space Grotesk"/>
              </a:rPr>
              <a:t>order_id</a:t>
            </a:r>
            <a:r>
              <a:rPr sz="1200" b="0" i="0">
                <a:solidFill>
                  <a:srgbClr val="4E4B4C"/>
                </a:solidFill>
                <a:latin typeface="Space Grotesk"/>
              </a:rPr>
              <a:t> ni etiquetas de fraude: 8 eventos simulados declarados</a:t>
            </a:r>
          </a:p>
        </p:txBody>
      </p:sp>
      <p:sp>
        <p:nvSpPr>
          <p:cNvPr id="124" name="Qué sale"/>
          <p:cNvSpPr/>
          <p:nvPr/>
        </p:nvSpPr>
        <p:spPr>
          <a:xfrm>
            <a:off x="4663440" y="246888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846320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7C8A"/>
                </a:solidFill>
                <a:latin typeface="Space Grotesk"/>
              </a:rPr>
              <a:t>Qué sale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46320" y="2880360"/>
            <a:ext cx="3611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200" b="0" i="0">
                <a:solidFill>
                  <a:srgbClr val="4E4B4C"/>
                </a:solidFill>
                <a:latin typeface="Space Grotesk"/>
              </a:rPr>
              <a:t>Recomendaciones con señales explicadas y Top-K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200" b="0" i="0">
                <a:solidFill>
                  <a:srgbClr val="4E4B4C"/>
                </a:solidFill>
                <a:latin typeface="Space Grotesk"/>
              </a:rPr>
              <a:t>Alertas de revisión (no bloquean solas) y consultas por rango de precio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200" b="1" i="0">
                <a:solidFill>
                  <a:srgbClr val="4E4B4C"/>
                </a:solidFill>
                <a:latin typeface="Space Grotesk"/>
              </a:rPr>
              <a:t>Cada etapa consume la salida de la anterior: </a:t>
            </a:r>
            <a:r>
              <a:rPr sz="1200" b="0" i="0">
                <a:solidFill>
                  <a:srgbClr val="4E4B4C"/>
                </a:solidFill>
                <a:latin typeface="Space Grotesk"/>
              </a:rPr>
              <a:t>integración verificable</a:t>
            </a:r>
          </a:p>
        </p:txBody>
      </p:sp>
      <p:sp>
        <p:nvSpPr>
          <p:cNvPr id="127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28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0</a:t>
            </a:r>
          </a:p>
        </p:txBody>
      </p:sp>
      <p:sp>
        <p:nvSpPr>
          <p:cNvPr id="129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130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31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3</a:t>
            </a:r>
          </a:p>
        </p:txBody>
      </p:sp>
      <p:sp>
        <p:nvSpPr>
          <p:cNvPr id="132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4</a:t>
            </a:r>
          </a:p>
        </p:txBody>
      </p:sp>
      <p:sp>
        <p:nvSpPr>
          <p:cNvPr id="133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5</a:t>
            </a:r>
          </a:p>
        </p:txBody>
      </p:sp>
      <p:sp>
        <p:nvSpPr>
          <p:cNvPr id="134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6</a:t>
            </a:r>
          </a:p>
        </p:txBody>
      </p:sp>
      <p:sp>
        <p:nvSpPr>
          <p:cNvPr id="135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7</a:t>
            </a:r>
          </a:p>
        </p:txBody>
      </p:sp>
      <p:sp>
        <p:nvSpPr>
          <p:cNvPr id="136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8</a:t>
            </a:r>
          </a:p>
        </p:txBody>
      </p:sp>
      <p:sp>
        <p:nvSpPr>
          <p:cNvPr id="137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9</a:t>
            </a:r>
          </a:p>
        </p:txBody>
      </p:sp>
      <p:sp>
        <p:nvSpPr>
          <p:cNvPr id="138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Jesús Delgado · 0–2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E1FF"/>
                </a:solidFill>
                <a:latin typeface="Space Grotesk"/>
              </a:rPr>
              <a:t>Arquitectura del pipeline 0 → 9</a:t>
            </a:r>
          </a:p>
        </p:txBody>
      </p:sp>
      <p:sp>
        <p:nvSpPr>
          <p:cNvPr id="109" name="Etapa 0"/>
          <p:cNvSpPr/>
          <p:nvPr/>
        </p:nvSpPr>
        <p:spPr>
          <a:xfrm>
            <a:off x="640080" y="1325880"/>
            <a:ext cx="1371600" cy="1444752"/>
          </a:xfrm>
          <a:prstGeom prst="roundRect">
            <a:avLst>
              <a:gd name="adj" fmla="val 8000"/>
            </a:avLst>
          </a:prstGeom>
          <a:solidFill>
            <a:srgbClr val="5F5C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9808" y="139903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1FF"/>
                </a:solidFill>
                <a:latin typeface="Space Grotesk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9808" y="185623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Ingesta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9808" y="20939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FIFO (deque)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9808" y="251460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E1FF"/>
                </a:solidFill>
                <a:latin typeface="Space Grotesk"/>
              </a:rPr>
              <a:t>Jesús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11680" y="1828800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0E1FF"/>
                </a:solidFill>
                <a:latin typeface="Space Grotesk"/>
              </a:rPr>
              <a:t>›</a:t>
            </a:r>
          </a:p>
        </p:txBody>
      </p:sp>
      <p:sp>
        <p:nvSpPr>
          <p:cNvPr id="115" name="Etapa 1"/>
          <p:cNvSpPr/>
          <p:nvPr/>
        </p:nvSpPr>
        <p:spPr>
          <a:xfrm>
            <a:off x="2194560" y="1325880"/>
            <a:ext cx="1371600" cy="1444752"/>
          </a:xfrm>
          <a:prstGeom prst="roundRect">
            <a:avLst>
              <a:gd name="adj" fmla="val 8000"/>
            </a:avLst>
          </a:prstGeom>
          <a:solidFill>
            <a:srgbClr val="5F5C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304288" y="139903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1FF"/>
                </a:solidFill>
                <a:latin typeface="Space Grotesk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304288" y="185623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Validación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04288" y="20939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Timsort + historial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04288" y="251460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E1FF"/>
                </a:solidFill>
                <a:latin typeface="Space Grotesk"/>
              </a:rPr>
              <a:t>Jesús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566160" y="1828800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0E1FF"/>
                </a:solidFill>
                <a:latin typeface="Space Grotesk"/>
              </a:rPr>
              <a:t>›</a:t>
            </a:r>
          </a:p>
        </p:txBody>
      </p:sp>
      <p:sp>
        <p:nvSpPr>
          <p:cNvPr id="121" name="Etapa 2"/>
          <p:cNvSpPr/>
          <p:nvPr/>
        </p:nvSpPr>
        <p:spPr>
          <a:xfrm>
            <a:off x="3749039" y="1325880"/>
            <a:ext cx="1371600" cy="1444752"/>
          </a:xfrm>
          <a:prstGeom prst="roundRect">
            <a:avLst>
              <a:gd name="adj" fmla="val 8000"/>
            </a:avLst>
          </a:prstGeom>
          <a:solidFill>
            <a:srgbClr val="5F5C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858768" y="139903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1FF"/>
                </a:solidFill>
                <a:latin typeface="Space Grotesk"/>
              </a:rPr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858768" y="185623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Prioridad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58768" y="20939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MinHeap estable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58768" y="251460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E1FF"/>
                </a:solidFill>
                <a:latin typeface="Space Grotesk"/>
              </a:rPr>
              <a:t>Jesús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20640" y="1828800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0E1FF"/>
                </a:solidFill>
                <a:latin typeface="Space Grotesk"/>
              </a:rPr>
              <a:t>›</a:t>
            </a:r>
          </a:p>
        </p:txBody>
      </p:sp>
      <p:sp>
        <p:nvSpPr>
          <p:cNvPr id="127" name="Etapa 3"/>
          <p:cNvSpPr/>
          <p:nvPr/>
        </p:nvSpPr>
        <p:spPr>
          <a:xfrm>
            <a:off x="5303520" y="1325880"/>
            <a:ext cx="1371600" cy="1444752"/>
          </a:xfrm>
          <a:prstGeom prst="roundRect">
            <a:avLst>
              <a:gd name="adj" fmla="val 8000"/>
            </a:avLst>
          </a:prstGeom>
          <a:solidFill>
            <a:srgbClr val="5F5C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413248" y="139903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1FF"/>
                </a:solidFill>
                <a:latin typeface="Space Grotesk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185623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Almacén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13248" y="20939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Hash + LRU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413248" y="251460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E1FF"/>
                </a:solidFill>
                <a:latin typeface="Space Grotesk"/>
              </a:rPr>
              <a:t>Erik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675120" y="1828800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0E1FF"/>
                </a:solidFill>
                <a:latin typeface="Space Grotesk"/>
              </a:rPr>
              <a:t>›</a:t>
            </a:r>
          </a:p>
        </p:txBody>
      </p:sp>
      <p:sp>
        <p:nvSpPr>
          <p:cNvPr id="133" name="Etapa 4"/>
          <p:cNvSpPr/>
          <p:nvPr/>
        </p:nvSpPr>
        <p:spPr>
          <a:xfrm>
            <a:off x="6858000" y="1325880"/>
            <a:ext cx="1371600" cy="1444752"/>
          </a:xfrm>
          <a:prstGeom prst="roundRect">
            <a:avLst>
              <a:gd name="adj" fmla="val 8000"/>
            </a:avLst>
          </a:prstGeom>
          <a:solidFill>
            <a:srgbClr val="5F5C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67728" y="139903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1FF"/>
                </a:solidFill>
                <a:latin typeface="Space Grotesk"/>
              </a:rP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67728" y="185623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Índice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967728" y="20939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B+ en disco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967728" y="251460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E1FF"/>
                </a:solidFill>
                <a:latin typeface="Space Grotesk"/>
              </a:rPr>
              <a:t>Erik</a:t>
            </a:r>
          </a:p>
        </p:txBody>
      </p:sp>
      <p:sp>
        <p:nvSpPr>
          <p:cNvPr id="138" name="Etapa 5"/>
          <p:cNvSpPr/>
          <p:nvPr/>
        </p:nvSpPr>
        <p:spPr>
          <a:xfrm>
            <a:off x="640080" y="2862072"/>
            <a:ext cx="1371600" cy="1444752"/>
          </a:xfrm>
          <a:prstGeom prst="roundRect">
            <a:avLst>
              <a:gd name="adj" fmla="val 8000"/>
            </a:avLst>
          </a:prstGeom>
          <a:solidFill>
            <a:srgbClr val="5F5C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49808" y="29352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1FF"/>
                </a:solidFill>
                <a:latin typeface="Space Grotesk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8" y="339242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Vecinos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9808" y="363016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KD-Tree exacto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9808" y="4050791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E1FF"/>
                </a:solidFill>
                <a:latin typeface="Space Grotesk"/>
              </a:rPr>
              <a:t>Mentor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011680" y="3364991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0E1FF"/>
                </a:solidFill>
                <a:latin typeface="Space Grotesk"/>
              </a:rPr>
              <a:t>›</a:t>
            </a:r>
          </a:p>
        </p:txBody>
      </p:sp>
      <p:sp>
        <p:nvSpPr>
          <p:cNvPr id="144" name="Etapa 6"/>
          <p:cNvSpPr/>
          <p:nvPr/>
        </p:nvSpPr>
        <p:spPr>
          <a:xfrm>
            <a:off x="2194560" y="2862072"/>
            <a:ext cx="1371600" cy="1444752"/>
          </a:xfrm>
          <a:prstGeom prst="roundRect">
            <a:avLst>
              <a:gd name="adj" fmla="val 8000"/>
            </a:avLst>
          </a:prstGeom>
          <a:solidFill>
            <a:srgbClr val="5F5C5D"/>
          </a:solidFill>
          <a:ln w="22225">
            <a:solidFill>
              <a:srgbClr val="00E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304288" y="29352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1FF"/>
                </a:solidFill>
                <a:latin typeface="Space Grotesk"/>
              </a:rPr>
              <a:t>6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999232" y="2990088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FIJA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04288" y="339242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Revisión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304288" y="363016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Bloom + CMS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304288" y="4050791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E1FF"/>
                </a:solidFill>
                <a:latin typeface="Space Grotesk"/>
              </a:rPr>
              <a:t>Mentor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66160" y="3364991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0E1FF"/>
                </a:solidFill>
                <a:latin typeface="Space Grotesk"/>
              </a:rPr>
              <a:t>›</a:t>
            </a:r>
          </a:p>
        </p:txBody>
      </p:sp>
      <p:sp>
        <p:nvSpPr>
          <p:cNvPr id="151" name="Etapa 7"/>
          <p:cNvSpPr/>
          <p:nvPr/>
        </p:nvSpPr>
        <p:spPr>
          <a:xfrm>
            <a:off x="3749039" y="2862072"/>
            <a:ext cx="1371600" cy="1444752"/>
          </a:xfrm>
          <a:prstGeom prst="roundRect">
            <a:avLst>
              <a:gd name="adj" fmla="val 8000"/>
            </a:avLst>
          </a:prstGeom>
          <a:solidFill>
            <a:srgbClr val="5F5C5D"/>
          </a:solidFill>
          <a:ln w="22225">
            <a:solidFill>
              <a:srgbClr val="00E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858768" y="29352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1FF"/>
                </a:solidFill>
                <a:latin typeface="Space Grotesk"/>
              </a:rPr>
              <a:t>7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553712" y="2990088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FIJA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858768" y="339242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Similitud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858768" y="363016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LSH + HNSW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858768" y="4050791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E1FF"/>
                </a:solidFill>
                <a:latin typeface="Space Grotesk"/>
              </a:rPr>
              <a:t>Guillermo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120640" y="3364991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0E1FF"/>
                </a:solidFill>
                <a:latin typeface="Space Grotesk"/>
              </a:rPr>
              <a:t>›</a:t>
            </a:r>
          </a:p>
        </p:txBody>
      </p:sp>
      <p:sp>
        <p:nvSpPr>
          <p:cNvPr id="158" name="Etapa 8"/>
          <p:cNvSpPr/>
          <p:nvPr/>
        </p:nvSpPr>
        <p:spPr>
          <a:xfrm>
            <a:off x="5303520" y="2862072"/>
            <a:ext cx="1371600" cy="1444752"/>
          </a:xfrm>
          <a:prstGeom prst="roundRect">
            <a:avLst>
              <a:gd name="adj" fmla="val 8000"/>
            </a:avLst>
          </a:prstGeom>
          <a:solidFill>
            <a:srgbClr val="5F5C5D"/>
          </a:solidFill>
          <a:ln w="22225">
            <a:solidFill>
              <a:srgbClr val="00E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413248" y="29352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1FF"/>
                </a:solidFill>
                <a:latin typeface="Space Grotesk"/>
              </a:rPr>
              <a:t>8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108192" y="2990088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FIJA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413248" y="339242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Relaciones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13248" y="363016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PageRank + Louvain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13248" y="4050791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E1FF"/>
                </a:solidFill>
                <a:latin typeface="Space Grotesk"/>
              </a:rPr>
              <a:t>Guillermo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675120" y="3364991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0E1FF"/>
                </a:solidFill>
                <a:latin typeface="Space Grotesk"/>
              </a:rPr>
              <a:t>›</a:t>
            </a:r>
          </a:p>
        </p:txBody>
      </p:sp>
      <p:sp>
        <p:nvSpPr>
          <p:cNvPr id="165" name="Etapa 9"/>
          <p:cNvSpPr/>
          <p:nvPr/>
        </p:nvSpPr>
        <p:spPr>
          <a:xfrm>
            <a:off x="6858000" y="2862072"/>
            <a:ext cx="1371600" cy="1444752"/>
          </a:xfrm>
          <a:prstGeom prst="roundRect">
            <a:avLst>
              <a:gd name="adj" fmla="val 8000"/>
            </a:avLst>
          </a:prstGeom>
          <a:solidFill>
            <a:srgbClr val="5F5C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967728" y="29352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1FF"/>
                </a:solidFill>
                <a:latin typeface="Space Grotesk"/>
              </a:rPr>
              <a:t>9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967728" y="339242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Servicio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967728" y="363016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Trie + Top-K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67728" y="4050791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E1FF"/>
                </a:solidFill>
                <a:latin typeface="Space Grotesk"/>
              </a:rPr>
              <a:t>Guillermo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40080" y="44074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La etapa 6 decide qué eventos llegan a 7 y 8 · el estado persiste entre lotes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Etapas 0–2: ingesta, limpieza y prioridad</a:t>
            </a:r>
          </a:p>
        </p:txBody>
      </p:sp>
      <p:sp>
        <p:nvSpPr>
          <p:cNvPr id="109" name="Tarjeta etapa 0"/>
          <p:cNvSpPr/>
          <p:nvPr/>
        </p:nvSpPr>
        <p:spPr>
          <a:xfrm>
            <a:off x="548640" y="1417320"/>
            <a:ext cx="25603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E4B4C"/>
                </a:solidFill>
                <a:latin typeface="Space Grotesk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98448" y="15544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E4B4C"/>
                </a:solidFill>
                <a:latin typeface="Space Grotesk"/>
              </a:rPr>
              <a:t>Ingesta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98448" y="181051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7C8A"/>
                </a:solidFill>
                <a:latin typeface="Space Grotesk"/>
              </a:rPr>
              <a:t>FIFO · deque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1520" y="2212848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Búfer con capacidad del lote</a:t>
            </a:r>
          </a:p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Evita list.pop(0), que desplaza O(n)</a:t>
            </a:r>
          </a:p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Local y secuencial, sin concurrencia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31520" y="345643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O(1) · 0,18 ms</a:t>
            </a:r>
          </a:p>
        </p:txBody>
      </p:sp>
      <p:sp>
        <p:nvSpPr>
          <p:cNvPr id="115" name="Tarjeta etapa 1"/>
          <p:cNvSpPr/>
          <p:nvPr/>
        </p:nvSpPr>
        <p:spPr>
          <a:xfrm>
            <a:off x="3291840" y="1417320"/>
            <a:ext cx="25603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474720" y="1572768"/>
            <a:ext cx="457200" cy="45720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E4B4C"/>
                </a:solidFill>
                <a:latin typeface="Space Grotesk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41648" y="15544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E4B4C"/>
                </a:solidFill>
                <a:latin typeface="Space Grotesk"/>
              </a:rPr>
              <a:t>Validación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41648" y="181051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7C8A"/>
                </a:solidFill>
                <a:latin typeface="Space Grotesk"/>
              </a:rPr>
              <a:t>Timsort + bisect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74720" y="2212848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Columnas, fecha UTC y precio ≥ 0</a:t>
            </a:r>
          </a:p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Deduplica en el lote y contra SQLite</a:t>
            </a:r>
          </a:p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Salida: eventos únicos y ordenados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474720" y="345643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O(b log b) · 3,55 ms</a:t>
            </a:r>
          </a:p>
        </p:txBody>
      </p:sp>
      <p:sp>
        <p:nvSpPr>
          <p:cNvPr id="121" name="Tarjeta etapa 2"/>
          <p:cNvSpPr/>
          <p:nvPr/>
        </p:nvSpPr>
        <p:spPr>
          <a:xfrm>
            <a:off x="6035040" y="1417320"/>
            <a:ext cx="25603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217920" y="1572768"/>
            <a:ext cx="457200" cy="45720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E4B4C"/>
                </a:solidFill>
                <a:latin typeface="Space Grotesk"/>
              </a:rPr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84848" y="15544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E4B4C"/>
                </a:solidFill>
                <a:latin typeface="Space Grotesk"/>
              </a:rPr>
              <a:t>Prioridad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84848" y="181051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7C8A"/>
                </a:solidFill>
                <a:latin typeface="Space Grotesk"/>
              </a:rPr>
              <a:t>MinHeap estable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17920" y="2212848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Clave: (prioridad, fecha, contador)</a:t>
            </a:r>
          </a:p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Alertas de pago antes que compras</a:t>
            </a:r>
          </a:p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El contador desempata de forma estable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217920" y="345643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O(log b) · 2,74 ms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48640" y="3977639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137160" rIns="137160" tIns="27432" bIns="27432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Salida: </a:t>
            </a:r>
            <a:r>
              <a:rPr sz="1100" b="0" i="0">
                <a:solidFill>
                  <a:srgbClr val="FFFFFF"/>
                </a:solidFill>
                <a:latin typeface="Space Grotesk"/>
              </a:rPr>
              <a:t>lote limpio, sin duplicados y ordenado por urgencia → pasa al almacenamiento (etapa 3). </a:t>
            </a:r>
            <a:r>
              <a:rPr sz="1100" b="0" i="0">
                <a:solidFill>
                  <a:srgbClr val="FFFFFF"/>
                </a:solidFill>
                <a:latin typeface="Space Grotesk"/>
              </a:rPr>
              <a:t>Corrida guardada: 1.008 eventos, 0 rechazos, 0 duplicados.</a:t>
            </a:r>
          </a:p>
        </p:txBody>
      </p:sp>
      <p:sp>
        <p:nvSpPr>
          <p:cNvPr id="128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29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0</a:t>
            </a:r>
          </a:p>
        </p:txBody>
      </p:sp>
      <p:sp>
        <p:nvSpPr>
          <p:cNvPr id="130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1</a:t>
            </a:r>
          </a:p>
        </p:txBody>
      </p:sp>
      <p:sp>
        <p:nvSpPr>
          <p:cNvPr id="131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2</a:t>
            </a:r>
          </a:p>
        </p:txBody>
      </p:sp>
      <p:sp>
        <p:nvSpPr>
          <p:cNvPr id="132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3</a:t>
            </a:r>
          </a:p>
        </p:txBody>
      </p:sp>
      <p:sp>
        <p:nvSpPr>
          <p:cNvPr id="133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4</a:t>
            </a:r>
          </a:p>
        </p:txBody>
      </p:sp>
      <p:sp>
        <p:nvSpPr>
          <p:cNvPr id="134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5</a:t>
            </a:r>
          </a:p>
        </p:txBody>
      </p:sp>
      <p:sp>
        <p:nvSpPr>
          <p:cNvPr id="135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6</a:t>
            </a:r>
          </a:p>
        </p:txBody>
      </p:sp>
      <p:sp>
        <p:nvSpPr>
          <p:cNvPr id="136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7</a:t>
            </a:r>
          </a:p>
        </p:txBody>
      </p:sp>
      <p:sp>
        <p:nvSpPr>
          <p:cNvPr id="137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8</a:t>
            </a:r>
          </a:p>
        </p:txBody>
      </p:sp>
      <p:sp>
        <p:nvSpPr>
          <p:cNvPr id="138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9</a:t>
            </a:r>
          </a:p>
        </p:txBody>
      </p:sp>
      <p:sp>
        <p:nvSpPr>
          <p:cNvPr id="139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Jesús Delgado · 0–2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Etapa 3: almacenamiento, hash y caché</a:t>
            </a:r>
          </a:p>
        </p:txBody>
      </p:sp>
      <p:sp>
        <p:nvSpPr>
          <p:cNvPr id="109" name="Panel flujo"/>
          <p:cNvSpPr/>
          <p:nvPr/>
        </p:nvSpPr>
        <p:spPr>
          <a:xfrm>
            <a:off x="548640" y="1417320"/>
            <a:ext cx="45720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77240" y="1600200"/>
            <a:ext cx="4114800" cy="868680"/>
          </a:xfrm>
          <a:prstGeom prst="roundRect">
            <a:avLst>
              <a:gd name="adj" fmla="val 12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pace Grotesk"/>
              </a:rPr>
              <a:t>Hash reciente + caché LRU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RAM · OrderedDict · capacidad 100 · O(1) esperado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160520" y="148132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HIT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2834640" y="2468880"/>
            <a:ext cx="0" cy="548640"/>
          </a:xfrm>
          <a:prstGeom prst="line">
            <a:avLst/>
          </a:prstGeom>
          <a:ln w="25400">
            <a:solidFill>
              <a:srgbClr val="4E4B4C"/>
            </a:solidFill>
            <a:tailEnd type="triangle" w="med" len="med"/>
          </a:ln>
        </p:spPr>
      </p:cxnSp>
      <p:sp>
        <p:nvSpPr>
          <p:cNvPr id="113" name="TextBox 112"/>
          <p:cNvSpPr txBox="1"/>
          <p:nvPr/>
        </p:nvSpPr>
        <p:spPr>
          <a:xfrm>
            <a:off x="2971800" y="2606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7C8A"/>
                </a:solidFill>
                <a:latin typeface="Space Grotesk"/>
              </a:rPr>
              <a:t>MISS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77240" y="3017520"/>
            <a:ext cx="4114800" cy="73152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9525">
            <a:solidFill>
              <a:srgbClr val="D9D9D9"/>
            </a:solidFill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4E4B4C"/>
                </a:solidFill>
                <a:latin typeface="Space Grotesk"/>
              </a:rPr>
              <a:t>SQLite · events.sqlite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disco · fuente persistente de eventos completos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794760" y="292608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NOT_FOUND</a:t>
            </a:r>
          </a:p>
        </p:txBody>
      </p:sp>
      <p:sp>
        <p:nvSpPr>
          <p:cNvPr id="116" name="Panel decisiones"/>
          <p:cNvSpPr/>
          <p:nvPr/>
        </p:nvSpPr>
        <p:spPr>
          <a:xfrm>
            <a:off x="5303520" y="1417320"/>
            <a:ext cx="32918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486400" y="1508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7C8A"/>
                </a:solidFill>
                <a:latin typeface="Space Grotesk"/>
              </a:rPr>
              <a:t>Decisiones de diseño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0" y="1828800"/>
            <a:ext cx="2971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Coherencia: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al escribir se invalida la copia cacheada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Capacidad explícita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en RAM; el LRU evita accesos repetidos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El O(1) aplica a RAM, </a:t>
            </a:r>
            <a:r>
              <a:rPr sz="1100" b="1" i="0">
                <a:solidFill>
                  <a:srgbClr val="4E4B4C"/>
                </a:solidFill>
                <a:latin typeface="Space Grotesk"/>
              </a:rPr>
              <a:t>no a SQLite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Frente a un árbol: lookup esperado </a:t>
            </a:r>
            <a:r>
              <a:rPr sz="1100" b="1" i="0">
                <a:solidFill>
                  <a:srgbClr val="4E4B4C"/>
                </a:solidFill>
                <a:latin typeface="Space Grotesk"/>
              </a:rPr>
              <a:t>O(1)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 en vez de O(log n)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Alimenta catálogo y B+ (etapa 4)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48640" y="4023360"/>
            <a:ext cx="3931920" cy="411480"/>
          </a:xfrm>
          <a:prstGeom prst="roundRect">
            <a:avLst>
              <a:gd name="adj" fmla="val 4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pace Grotesk"/>
              </a:rPr>
              <a:t>1K × 100: </a:t>
            </a:r>
            <a:r>
              <a:rPr sz="1200" b="0" i="0">
                <a:solidFill>
                  <a:srgbClr val="FFFFFF"/>
                </a:solidFill>
                <a:latin typeface="Space Grotesk"/>
              </a:rPr>
              <a:t>0,852 ± 0,111 ms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663440" y="4023360"/>
            <a:ext cx="3931920" cy="411480"/>
          </a:xfrm>
          <a:prstGeom prst="roundRect">
            <a:avLst>
              <a:gd name="adj" fmla="val 4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pace Grotesk"/>
              </a:rPr>
              <a:t>Memoria actual: </a:t>
            </a:r>
            <a:r>
              <a:rPr sz="1200" b="0" i="0">
                <a:solidFill>
                  <a:srgbClr val="FFFFFF"/>
                </a:solidFill>
                <a:latin typeface="Space Grotesk"/>
              </a:rPr>
              <a:t>274 KiB (pico 275 KiB)</a:t>
            </a:r>
          </a:p>
        </p:txBody>
      </p:sp>
      <p:sp>
        <p:nvSpPr>
          <p:cNvPr id="121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22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0</a:t>
            </a:r>
          </a:p>
        </p:txBody>
      </p:sp>
      <p:sp>
        <p:nvSpPr>
          <p:cNvPr id="123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1</a:t>
            </a:r>
          </a:p>
        </p:txBody>
      </p:sp>
      <p:sp>
        <p:nvSpPr>
          <p:cNvPr id="124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2</a:t>
            </a:r>
          </a:p>
        </p:txBody>
      </p:sp>
      <p:sp>
        <p:nvSpPr>
          <p:cNvPr id="125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3</a:t>
            </a:r>
          </a:p>
        </p:txBody>
      </p:sp>
      <p:sp>
        <p:nvSpPr>
          <p:cNvPr id="126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127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5</a:t>
            </a:r>
          </a:p>
        </p:txBody>
      </p:sp>
      <p:sp>
        <p:nvSpPr>
          <p:cNvPr id="128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6</a:t>
            </a:r>
          </a:p>
        </p:txBody>
      </p:sp>
      <p:sp>
        <p:nvSpPr>
          <p:cNvPr id="129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7</a:t>
            </a:r>
          </a:p>
        </p:txBody>
      </p:sp>
      <p:sp>
        <p:nvSpPr>
          <p:cNvPr id="130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8</a:t>
            </a:r>
          </a:p>
        </p:txBody>
      </p:sp>
      <p:sp>
        <p:nvSpPr>
          <p:cNvPr id="131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9</a:t>
            </a:r>
          </a:p>
        </p:txBody>
      </p:sp>
      <p:sp>
        <p:nvSpPr>
          <p:cNvPr id="132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Erik Poma · 3–4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Etapa 4: índice B+ en disco</a:t>
            </a:r>
          </a:p>
        </p:txBody>
      </p:sp>
      <p:sp>
        <p:nvSpPr>
          <p:cNvPr id="109" name="Panel B+"/>
          <p:cNvSpPr/>
          <p:nvPr/>
        </p:nvSpPr>
        <p:spPr>
          <a:xfrm>
            <a:off x="548640" y="1417320"/>
            <a:ext cx="448056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2103120" y="1600200"/>
            <a:ext cx="1371600" cy="457200"/>
          </a:xfrm>
          <a:prstGeom prst="roundRect">
            <a:avLst>
              <a:gd name="adj" fmla="val 15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pace Grotesk"/>
              </a:rPr>
              <a:t>100 | 300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66160" y="1645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separadores</a:t>
            </a:r>
          </a:p>
        </p:txBody>
      </p:sp>
      <p:cxnSp>
        <p:nvCxnSpPr>
          <p:cNvPr id="112" name="Connector 111"/>
          <p:cNvCxnSpPr/>
          <p:nvPr/>
        </p:nvCxnSpPr>
        <p:spPr>
          <a:xfrm flipH="1">
            <a:off x="1348740" y="2057400"/>
            <a:ext cx="1440180" cy="685800"/>
          </a:xfrm>
          <a:prstGeom prst="line">
            <a:avLst/>
          </a:prstGeom>
          <a:ln w="15875">
            <a:solidFill>
              <a:srgbClr val="6B6869"/>
            </a:solidFill>
          </a:ln>
        </p:spPr>
      </p:cxnSp>
      <p:sp>
        <p:nvSpPr>
          <p:cNvPr id="113" name="Rounded Rectangle 112"/>
          <p:cNvSpPr/>
          <p:nvPr/>
        </p:nvSpPr>
        <p:spPr>
          <a:xfrm>
            <a:off x="731520" y="2743200"/>
            <a:ext cx="1234440" cy="54864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9525">
            <a:solidFill>
              <a:srgbClr val="D6D6D6"/>
            </a:solidFill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20 · 45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2788920" y="2057400"/>
            <a:ext cx="22860" cy="685800"/>
          </a:xfrm>
          <a:prstGeom prst="line">
            <a:avLst/>
          </a:prstGeom>
          <a:ln w="15875">
            <a:solidFill>
              <a:srgbClr val="6B6869"/>
            </a:solidFill>
          </a:ln>
        </p:spPr>
      </p:cxnSp>
      <p:sp>
        <p:nvSpPr>
          <p:cNvPr id="115" name="Rounded Rectangle 114"/>
          <p:cNvSpPr/>
          <p:nvPr/>
        </p:nvSpPr>
        <p:spPr>
          <a:xfrm>
            <a:off x="2194560" y="2743200"/>
            <a:ext cx="1234440" cy="54864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9525">
            <a:solidFill>
              <a:srgbClr val="D6D6D6"/>
            </a:solidFill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120 · 150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2788920" y="2057400"/>
            <a:ext cx="1485900" cy="685800"/>
          </a:xfrm>
          <a:prstGeom prst="line">
            <a:avLst/>
          </a:prstGeom>
          <a:ln w="15875">
            <a:solidFill>
              <a:srgbClr val="6B6869"/>
            </a:solidFill>
          </a:ln>
        </p:spPr>
      </p:cxnSp>
      <p:sp>
        <p:nvSpPr>
          <p:cNvPr id="117" name="Rounded Rectangle 116"/>
          <p:cNvSpPr/>
          <p:nvPr/>
        </p:nvSpPr>
        <p:spPr>
          <a:xfrm>
            <a:off x="3657600" y="2743200"/>
            <a:ext cx="1234440" cy="54864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9525">
            <a:solidFill>
              <a:srgbClr val="D6D6D6"/>
            </a:solidFill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320 · 400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1965960" y="3017520"/>
            <a:ext cx="228600" cy="0"/>
          </a:xfrm>
          <a:prstGeom prst="line">
            <a:avLst/>
          </a:prstGeom>
          <a:ln w="19050">
            <a:solidFill>
              <a:srgbClr val="007C8A"/>
            </a:solidFill>
            <a:tailEnd type="triangle" w="med" len="med"/>
          </a:ln>
        </p:spPr>
      </p:cxnSp>
      <p:cxnSp>
        <p:nvCxnSpPr>
          <p:cNvPr id="119" name="Connector 118"/>
          <p:cNvCxnSpPr/>
          <p:nvPr/>
        </p:nvCxnSpPr>
        <p:spPr>
          <a:xfrm>
            <a:off x="3429000" y="3017520"/>
            <a:ext cx="228600" cy="0"/>
          </a:xfrm>
          <a:prstGeom prst="line">
            <a:avLst/>
          </a:prstGeom>
          <a:ln w="19050">
            <a:solidFill>
              <a:srgbClr val="007C8A"/>
            </a:solidFill>
            <a:tailEnd type="triangle" w="med" len="med"/>
          </a:ln>
        </p:spPr>
      </p:cxnSp>
      <p:sp>
        <p:nvSpPr>
          <p:cNvPr id="120" name="TextBox 119"/>
          <p:cNvSpPr txBox="1"/>
          <p:nvPr/>
        </p:nvSpPr>
        <p:spPr>
          <a:xfrm>
            <a:off x="731520" y="3364992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hojas enlazadas ordenadas por (precio, product_id)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194560" y="36576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range_search [120, 400]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31520" y="4069080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Esquema ilustrativo, valores de ejemplo</a:t>
            </a:r>
          </a:p>
        </p:txBody>
      </p:sp>
      <p:sp>
        <p:nvSpPr>
          <p:cNvPr id="123" name="Panel B+ detalle"/>
          <p:cNvSpPr/>
          <p:nvPr/>
        </p:nvSpPr>
        <p:spPr>
          <a:xfrm>
            <a:off x="5212080" y="1417320"/>
            <a:ext cx="3383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394960" y="1536192"/>
            <a:ext cx="30632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B+ propio: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SQLite solo guarda páginas y metadatos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Clave (precio, product_id):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rangos inclusivos sin confundir precios iguales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O(log_B n)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páginas por búsqueda + las del rango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Caché de páginas limita la RAM; sin borrado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Catálogo = primer precio observado (no es stock)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212080" y="4023360"/>
            <a:ext cx="3383280" cy="365760"/>
          </a:xfrm>
          <a:prstGeom prst="roundRect">
            <a:avLst>
              <a:gd name="adj" fmla="val 4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1K × 100: </a:t>
            </a:r>
            <a:r>
              <a:rPr sz="1100" b="0" i="0">
                <a:solidFill>
                  <a:srgbClr val="FFFFFF"/>
                </a:solidFill>
                <a:latin typeface="Space Grotesk"/>
              </a:rPr>
              <a:t>153,4 ± 5,5 ms · 63 KiB</a:t>
            </a:r>
          </a:p>
        </p:txBody>
      </p:sp>
      <p:sp>
        <p:nvSpPr>
          <p:cNvPr id="126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27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0</a:t>
            </a:r>
          </a:p>
        </p:txBody>
      </p:sp>
      <p:sp>
        <p:nvSpPr>
          <p:cNvPr id="128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1</a:t>
            </a:r>
          </a:p>
        </p:txBody>
      </p:sp>
      <p:sp>
        <p:nvSpPr>
          <p:cNvPr id="129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2</a:t>
            </a:r>
          </a:p>
        </p:txBody>
      </p:sp>
      <p:sp>
        <p:nvSpPr>
          <p:cNvPr id="130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31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4</a:t>
            </a:r>
          </a:p>
        </p:txBody>
      </p:sp>
      <p:sp>
        <p:nvSpPr>
          <p:cNvPr id="132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5</a:t>
            </a:r>
          </a:p>
        </p:txBody>
      </p:sp>
      <p:sp>
        <p:nvSpPr>
          <p:cNvPr id="133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6</a:t>
            </a:r>
          </a:p>
        </p:txBody>
      </p:sp>
      <p:sp>
        <p:nvSpPr>
          <p:cNvPr id="134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7</a:t>
            </a:r>
          </a:p>
        </p:txBody>
      </p:sp>
      <p:sp>
        <p:nvSpPr>
          <p:cNvPr id="135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8</a:t>
            </a:r>
          </a:p>
        </p:txBody>
      </p:sp>
      <p:sp>
        <p:nvSpPr>
          <p:cNvPr id="136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9</a:t>
            </a:r>
          </a:p>
        </p:txBody>
      </p:sp>
      <p:sp>
        <p:nvSpPr>
          <p:cNvPr id="137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Erik Poma · 3–4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Etapa 5: KD-Tree y KNN exacto</a:t>
            </a:r>
          </a:p>
        </p:txBody>
      </p:sp>
      <p:sp>
        <p:nvSpPr>
          <p:cNvPr id="109" name="Panel KD"/>
          <p:cNvSpPr/>
          <p:nvPr/>
        </p:nvSpPr>
        <p:spPr>
          <a:xfrm>
            <a:off x="548640" y="1417320"/>
            <a:ext cx="365760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77240" y="1600200"/>
            <a:ext cx="3200400" cy="2514600"/>
          </a:xfrm>
          <a:prstGeom prst="rect">
            <a:avLst/>
          </a:prstGeom>
          <a:solidFill>
            <a:srgbClr val="F4F4F4"/>
          </a:solidFill>
          <a:ln w="9525">
            <a:solidFill>
              <a:srgbClr val="D6D6D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2377440" y="1600200"/>
            <a:ext cx="0" cy="2514600"/>
          </a:xfrm>
          <a:prstGeom prst="line">
            <a:avLst/>
          </a:prstGeom>
          <a:ln w="31750">
            <a:solidFill>
              <a:srgbClr val="007C8A"/>
            </a:solidFill>
          </a:ln>
        </p:spPr>
      </p:cxnSp>
      <p:cxnSp>
        <p:nvCxnSpPr>
          <p:cNvPr id="112" name="Connector 111"/>
          <p:cNvCxnSpPr/>
          <p:nvPr/>
        </p:nvCxnSpPr>
        <p:spPr>
          <a:xfrm>
            <a:off x="777240" y="2880360"/>
            <a:ext cx="1600200" cy="0"/>
          </a:xfrm>
          <a:prstGeom prst="line">
            <a:avLst/>
          </a:prstGeom>
          <a:ln w="19050">
            <a:solidFill>
              <a:srgbClr val="6B6869"/>
            </a:solidFill>
          </a:ln>
        </p:spPr>
      </p:cxnSp>
      <p:cxnSp>
        <p:nvCxnSpPr>
          <p:cNvPr id="113" name="Connector 112"/>
          <p:cNvCxnSpPr/>
          <p:nvPr/>
        </p:nvCxnSpPr>
        <p:spPr>
          <a:xfrm>
            <a:off x="2377440" y="3383280"/>
            <a:ext cx="1600199" cy="0"/>
          </a:xfrm>
          <a:prstGeom prst="line">
            <a:avLst/>
          </a:prstGeom>
          <a:ln w="19050">
            <a:solidFill>
              <a:srgbClr val="6B6869"/>
            </a:solidFill>
          </a:ln>
        </p:spPr>
      </p:cxnSp>
      <p:sp>
        <p:nvSpPr>
          <p:cNvPr id="114" name="Oval 113"/>
          <p:cNvSpPr/>
          <p:nvPr/>
        </p:nvSpPr>
        <p:spPr>
          <a:xfrm>
            <a:off x="1129284" y="2043684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769364" y="2318004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403604" y="2546604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37844" y="3323844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952244" y="3643884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495044" y="3826763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75204" y="1952244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506724" y="2500884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095244" y="3049524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683764" y="3689603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506724" y="3735324"/>
            <a:ext cx="118872" cy="118872"/>
          </a:xfrm>
          <a:prstGeom prst="ellipse">
            <a:avLst/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651760" y="2194560"/>
            <a:ext cx="1097280" cy="1097280"/>
          </a:xfrm>
          <a:prstGeom prst="ellipse">
            <a:avLst/>
          </a:prstGeom>
          <a:noFill/>
          <a:ln w="19050">
            <a:solidFill>
              <a:srgbClr val="007C8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108960" y="2651760"/>
            <a:ext cx="182880" cy="182880"/>
          </a:xfrm>
          <a:prstGeom prst="ellipse">
            <a:avLst/>
          </a:prstGeom>
          <a:solidFill>
            <a:srgbClr val="00E1FF"/>
          </a:solidFill>
          <a:ln w="15875">
            <a:solidFill>
              <a:srgbClr val="4E4B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346704" y="250545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7C8A"/>
                </a:solidFill>
                <a:latin typeface="Space Grotesk"/>
              </a:rPr>
              <a:t>q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77240" y="416052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Se podan las ramas lejanas a q</a:t>
            </a:r>
          </a:p>
        </p:txBody>
      </p:sp>
      <p:sp>
        <p:nvSpPr>
          <p:cNvPr id="129" name="Panel KD detalle"/>
          <p:cNvSpPr/>
          <p:nvPr/>
        </p:nvSpPr>
        <p:spPr>
          <a:xfrm>
            <a:off x="4389120" y="1417320"/>
            <a:ext cx="42062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572000" y="1536192"/>
            <a:ext cx="3886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Vector de 17 dimensiones: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precio logarítmico + buckets de categoría y marca (no son embeddings)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Construcción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O(n log² n); consulta con poda de ramas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Línea base: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KNN exhaustivo, misma distancia y sin el propio ID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Límite: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en alta dimensión la poda pierde fuerza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kd_coincide: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el pipeline verifica KD == exacto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389120" y="4023360"/>
            <a:ext cx="4206240" cy="365760"/>
          </a:xfrm>
          <a:prstGeom prst="roundRect">
            <a:avLst>
              <a:gd name="adj" fmla="val 4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1K × 100: </a:t>
            </a:r>
            <a:r>
              <a:rPr sz="1100" b="0" i="0">
                <a:solidFill>
                  <a:srgbClr val="FFFFFF"/>
                </a:solidFill>
                <a:latin typeface="Space Grotesk"/>
              </a:rPr>
              <a:t>13,9 ± 0,9 ms · 93 KiB · salida → etapa 9</a:t>
            </a:r>
          </a:p>
        </p:txBody>
      </p:sp>
      <p:sp>
        <p:nvSpPr>
          <p:cNvPr id="132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33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0</a:t>
            </a:r>
          </a:p>
        </p:txBody>
      </p:sp>
      <p:sp>
        <p:nvSpPr>
          <p:cNvPr id="134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1</a:t>
            </a:r>
          </a:p>
        </p:txBody>
      </p:sp>
      <p:sp>
        <p:nvSpPr>
          <p:cNvPr id="135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2</a:t>
            </a:r>
          </a:p>
        </p:txBody>
      </p:sp>
      <p:sp>
        <p:nvSpPr>
          <p:cNvPr id="136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3</a:t>
            </a:r>
          </a:p>
        </p:txBody>
      </p:sp>
      <p:sp>
        <p:nvSpPr>
          <p:cNvPr id="137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4</a:t>
            </a:r>
          </a:p>
        </p:txBody>
      </p:sp>
      <p:sp>
        <p:nvSpPr>
          <p:cNvPr id="138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5</a:t>
            </a:r>
          </a:p>
        </p:txBody>
      </p:sp>
      <p:sp>
        <p:nvSpPr>
          <p:cNvPr id="139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6</a:t>
            </a:r>
          </a:p>
        </p:txBody>
      </p:sp>
      <p:sp>
        <p:nvSpPr>
          <p:cNvPr id="140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7</a:t>
            </a:r>
          </a:p>
        </p:txBody>
      </p:sp>
      <p:sp>
        <p:nvSpPr>
          <p:cNvPr id="141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8</a:t>
            </a:r>
          </a:p>
        </p:txBody>
      </p:sp>
      <p:sp>
        <p:nvSpPr>
          <p:cNvPr id="142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9</a:t>
            </a:r>
          </a:p>
        </p:txBody>
      </p:sp>
      <p:sp>
        <p:nvSpPr>
          <p:cNvPr id="143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Mentor Naquiche · 5–6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Etapa 6 [FIJA]: Bloom + Count-Min Sketch</a:t>
            </a:r>
          </a:p>
        </p:txBody>
      </p:sp>
      <p:sp>
        <p:nvSpPr>
          <p:cNvPr id="109" name="Bloom Filter"/>
          <p:cNvSpPr/>
          <p:nvPr/>
        </p:nvSpPr>
        <p:spPr>
          <a:xfrm>
            <a:off x="548640" y="141732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3232" y="1508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7C8A"/>
                </a:solidFill>
                <a:latin typeface="Space Grotesk"/>
              </a:rPr>
              <a:t>Bloom Filter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3232" y="180136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¿La cuenta fue señalada?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3232" y="21031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6869"/>
                </a:solidFill>
                <a:latin typeface="Space Grotesk"/>
              </a:rPr>
              <a:t>m bits + k hashes · O(k)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6869"/>
                </a:solidFill>
                <a:latin typeface="Space Grotesk"/>
              </a:rPr>
              <a:t>Positivo puede ser falso → set exacto confirma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13232" y="290779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0,600 %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3232" y="3364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falsos positivos · 0 falsos negativos</a:t>
            </a:r>
          </a:p>
        </p:txBody>
      </p:sp>
      <p:sp>
        <p:nvSpPr>
          <p:cNvPr id="115" name="Count-Min Sketch"/>
          <p:cNvSpPr/>
          <p:nvPr/>
        </p:nvSpPr>
        <p:spPr>
          <a:xfrm>
            <a:off x="3246120" y="141732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410712" y="1508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7C8A"/>
                </a:solidFill>
                <a:latin typeface="Space Grotesk"/>
              </a:rPr>
              <a:t>Count-Min Sketch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10712" y="180136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¿Cuántos intentos en 300 s?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410712" y="21031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6869"/>
                </a:solidFill>
                <a:latin typeface="Space Grotesk"/>
              </a:rPr>
              <a:t>5 filas × 2.000 · O(d)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6869"/>
                </a:solidFill>
                <a:latin typeface="Space Grotesk"/>
              </a:rPr>
              <a:t>Puede sobreestimar → Counter exacto confirma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10712" y="290779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0,002976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410712" y="3364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error abs. medio · sobreest. máx. 1</a:t>
            </a:r>
          </a:p>
        </p:txBody>
      </p:sp>
      <p:sp>
        <p:nvSpPr>
          <p:cNvPr id="121" name="Política de riesgo"/>
          <p:cNvSpPr/>
          <p:nvPr/>
        </p:nvSpPr>
        <p:spPr>
          <a:xfrm>
            <a:off x="5943600" y="141732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08192" y="1508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E1FF"/>
                </a:solidFill>
                <a:latin typeface="Space Grotesk"/>
              </a:rPr>
              <a:t>Política de riesgo</a:t>
            </a:r>
          </a:p>
        </p:txBody>
      </p:sp>
      <p:sp>
        <p:nvSpPr>
          <p:cNvPr id="123" name="Oval 122"/>
          <p:cNvSpPr/>
          <p:nvPr/>
        </p:nvSpPr>
        <p:spPr>
          <a:xfrm>
            <a:off x="6108192" y="1847088"/>
            <a:ext cx="246888" cy="246888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46520" y="1828800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pace Grotesk"/>
              </a:rPr>
              <a:t>Clave: cuenta · ventana 300 s</a:t>
            </a:r>
          </a:p>
        </p:txBody>
      </p:sp>
      <p:sp>
        <p:nvSpPr>
          <p:cNvPr id="125" name="Oval 124"/>
          <p:cNvSpPr/>
          <p:nvPr/>
        </p:nvSpPr>
        <p:spPr>
          <a:xfrm>
            <a:off x="6108192" y="2212848"/>
            <a:ext cx="246888" cy="246888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46520" y="2194560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pace Grotesk"/>
              </a:rPr>
              <a:t>Bloom: ¿cuenta señalada?</a:t>
            </a:r>
          </a:p>
        </p:txBody>
      </p:sp>
      <p:sp>
        <p:nvSpPr>
          <p:cNvPr id="127" name="Oval 126"/>
          <p:cNvSpPr/>
          <p:nvPr/>
        </p:nvSpPr>
        <p:spPr>
          <a:xfrm>
            <a:off x="6108192" y="2578608"/>
            <a:ext cx="246888" cy="246888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446520" y="2560320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pace Grotesk"/>
              </a:rPr>
              <a:t>CMS: ¿3 o más intentos?</a:t>
            </a:r>
          </a:p>
        </p:txBody>
      </p:sp>
      <p:sp>
        <p:nvSpPr>
          <p:cNvPr id="129" name="Oval 128"/>
          <p:cNvSpPr/>
          <p:nvPr/>
        </p:nvSpPr>
        <p:spPr>
          <a:xfrm>
            <a:off x="6108192" y="2944368"/>
            <a:ext cx="246888" cy="246888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446520" y="2926080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pace Grotesk"/>
              </a:rPr>
              <a:t>Exacto confirma la decisión</a:t>
            </a:r>
          </a:p>
        </p:txBody>
      </p:sp>
      <p:sp>
        <p:nvSpPr>
          <p:cNvPr id="131" name="Oval 130"/>
          <p:cNvSpPr/>
          <p:nvPr/>
        </p:nvSpPr>
        <p:spPr>
          <a:xfrm>
            <a:off x="6108192" y="3310128"/>
            <a:ext cx="246888" cy="246888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E4B4C"/>
                </a:solidFill>
                <a:latin typeface="Space Grotesk"/>
              </a:rPr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446520" y="3291840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pace Grotesk"/>
              </a:rPr>
              <a:t>REVISIÓN, no bloqueo solo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48640" y="3913632"/>
            <a:ext cx="8046720" cy="5029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137160" rIns="137160" tIns="27432" bIns="27432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pace Grotesk"/>
              </a:rPr>
              <a:t>Frente a los exactos (1K × 100): </a:t>
            </a:r>
            <a:r>
              <a:rPr sz="1050" b="0" i="0">
                <a:solidFill>
                  <a:srgbClr val="FFFFFF"/>
                </a:solidFill>
                <a:latin typeface="Space Grotesk"/>
              </a:rPr>
              <a:t>Bloom 1,2 KiB vs set 48 KiB; CMS 78 KiB vs Counter 34 KiB. A esta escala los nativos son más rápidos en tiempo.</a:t>
            </a:r>
          </a:p>
        </p:txBody>
      </p:sp>
      <p:sp>
        <p:nvSpPr>
          <p:cNvPr id="134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35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0</a:t>
            </a:r>
          </a:p>
        </p:txBody>
      </p:sp>
      <p:sp>
        <p:nvSpPr>
          <p:cNvPr id="136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1</a:t>
            </a:r>
          </a:p>
        </p:txBody>
      </p:sp>
      <p:sp>
        <p:nvSpPr>
          <p:cNvPr id="137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2</a:t>
            </a:r>
          </a:p>
        </p:txBody>
      </p:sp>
      <p:sp>
        <p:nvSpPr>
          <p:cNvPr id="138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3</a:t>
            </a:r>
          </a:p>
        </p:txBody>
      </p:sp>
      <p:sp>
        <p:nvSpPr>
          <p:cNvPr id="139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4</a:t>
            </a:r>
          </a:p>
        </p:txBody>
      </p:sp>
      <p:sp>
        <p:nvSpPr>
          <p:cNvPr id="140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5</a:t>
            </a:r>
          </a:p>
        </p:txBody>
      </p:sp>
      <p:sp>
        <p:nvSpPr>
          <p:cNvPr id="141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6</a:t>
            </a:r>
          </a:p>
        </p:txBody>
      </p:sp>
      <p:sp>
        <p:nvSpPr>
          <p:cNvPr id="142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7</a:t>
            </a:r>
          </a:p>
        </p:txBody>
      </p:sp>
      <p:sp>
        <p:nvSpPr>
          <p:cNvPr id="143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8</a:t>
            </a:r>
          </a:p>
        </p:txBody>
      </p:sp>
      <p:sp>
        <p:nvSpPr>
          <p:cNvPr id="144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9</a:t>
            </a:r>
          </a:p>
        </p:txBody>
      </p:sp>
      <p:sp>
        <p:nvSpPr>
          <p:cNvPr id="145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Mentor Naquiche · 5–6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Etapa 7 [FIJA]: similitud aproximada</a:t>
            </a:r>
          </a:p>
        </p:txBody>
      </p:sp>
      <p:sp>
        <p:nvSpPr>
          <p:cNvPr id="109" name="MinHash LSH"/>
          <p:cNvSpPr/>
          <p:nvPr/>
        </p:nvSpPr>
        <p:spPr>
          <a:xfrm>
            <a:off x="548640" y="1417320"/>
            <a:ext cx="39319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1520" y="1508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7C8A"/>
                </a:solidFill>
                <a:latin typeface="Space Grotesk"/>
              </a:rPr>
              <a:t>Conjuntos · MinHash + LSH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1520" y="1847088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Firma de 64 mínimos hash; 16 bandas × 4 filas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Canastas por usuario (hasta 10.000 cuentas)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Control: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Jaccard exacto, umbral 0,3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31520" y="310896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E4B4C"/>
                </a:solidFill>
                <a:latin typeface="Space Grotesk"/>
              </a:rPr>
              <a:t>Recall = Precisión = 1,000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1520" y="36118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307 conjuntos · 5 consultas · 100 repeticiones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31520" y="3913632"/>
            <a:ext cx="3566160" cy="347472"/>
          </a:xfrm>
          <a:prstGeom prst="roundRect">
            <a:avLst>
              <a:gd name="adj" fmla="val 40000"/>
            </a:avLst>
          </a:prstGeom>
          <a:solidFill>
            <a:srgbClr val="EEEEEE"/>
          </a:solidFill>
          <a:ln w="9525">
            <a:solidFill>
              <a:srgbClr val="D6D6D6"/>
            </a:solidFill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55,3 ms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vs Jaccard exacto </a:t>
            </a:r>
            <a:r>
              <a:rPr sz="1100" b="1" i="0">
                <a:solidFill>
                  <a:srgbClr val="4E4B4C"/>
                </a:solidFill>
                <a:latin typeface="Space Grotesk"/>
              </a:rPr>
              <a:t>6,2 ms</a:t>
            </a:r>
          </a:p>
        </p:txBody>
      </p:sp>
      <p:sp>
        <p:nvSpPr>
          <p:cNvPr id="115" name="HNSW"/>
          <p:cNvSpPr/>
          <p:nvPr/>
        </p:nvSpPr>
        <p:spPr>
          <a:xfrm>
            <a:off x="4663440" y="1417320"/>
            <a:ext cx="39319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846320" y="1508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7C8A"/>
                </a:solidFill>
                <a:latin typeface="Space Grotesk"/>
              </a:rPr>
              <a:t>Vectores · HNSW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1847088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Grafo multicapa propio · M=8, ef_search=32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0" i="0">
                <a:solidFill>
                  <a:srgbClr val="4E4B4C"/>
                </a:solidFill>
                <a:latin typeface="Space Grotesk"/>
              </a:rPr>
              <a:t>17 dimensiones · 672 productos</a:t>
            </a:r>
          </a:p>
          <a:p>
            <a:pPr algn="l" marL="171450" indent="-171450">
              <a:spcAft>
                <a:spcPts val="4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Control: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KNN exacto, mismos vectores, k=5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846320" y="301752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E4B4C"/>
                </a:solidFill>
                <a:latin typeface="Space Grotesk"/>
              </a:rPr>
              <a:t>Recall@5 = 1,000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846320" y="3584448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9525">
            <a:solidFill>
              <a:srgbClr val="D6D6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846320" y="361188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E4B4C"/>
                </a:solidFill>
                <a:latin typeface="Space Grotesk"/>
              </a:rPr>
              <a:t>1.423 ms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46320" y="3886200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construir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062472" y="3584448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9525">
            <a:solidFill>
              <a:srgbClr val="D6D6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062472" y="361188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E4B4C"/>
                </a:solidFill>
                <a:latin typeface="Space Grotesk"/>
              </a:rPr>
              <a:t>3,7 ms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062472" y="3886200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5 consultas HNSW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278624" y="3584448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9525">
            <a:solidFill>
              <a:srgbClr val="D6D6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278624" y="361188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E4B4C"/>
                </a:solidFill>
                <a:latin typeface="Space Grotesk"/>
              </a:rPr>
              <a:t>19,2 ms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278624" y="3886200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5 consultas exactas</a:t>
            </a:r>
          </a:p>
        </p:txBody>
      </p:sp>
      <p:sp>
        <p:nvSpPr>
          <p:cNvPr id="128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29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0</a:t>
            </a:r>
          </a:p>
        </p:txBody>
      </p:sp>
      <p:sp>
        <p:nvSpPr>
          <p:cNvPr id="130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1</a:t>
            </a:r>
          </a:p>
        </p:txBody>
      </p:sp>
      <p:sp>
        <p:nvSpPr>
          <p:cNvPr id="131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2</a:t>
            </a:r>
          </a:p>
        </p:txBody>
      </p:sp>
      <p:sp>
        <p:nvSpPr>
          <p:cNvPr id="132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3</a:t>
            </a:r>
          </a:p>
        </p:txBody>
      </p:sp>
      <p:sp>
        <p:nvSpPr>
          <p:cNvPr id="133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4</a:t>
            </a:r>
          </a:p>
        </p:txBody>
      </p:sp>
      <p:sp>
        <p:nvSpPr>
          <p:cNvPr id="134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5</a:t>
            </a:r>
          </a:p>
        </p:txBody>
      </p:sp>
      <p:sp>
        <p:nvSpPr>
          <p:cNvPr id="135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6</a:t>
            </a:r>
          </a:p>
        </p:txBody>
      </p:sp>
      <p:sp>
        <p:nvSpPr>
          <p:cNvPr id="136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7</a:t>
            </a:r>
          </a:p>
        </p:txBody>
      </p:sp>
      <p:sp>
        <p:nvSpPr>
          <p:cNvPr id="137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8</a:t>
            </a:r>
          </a:p>
        </p:txBody>
      </p:sp>
      <p:sp>
        <p:nvSpPr>
          <p:cNvPr id="138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9</a:t>
            </a:r>
          </a:p>
        </p:txBody>
      </p:sp>
      <p:sp>
        <p:nvSpPr>
          <p:cNvPr id="139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Guillermo Calderón · 7–9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Etapa 8 [FIJA]: PageRank y comunidades</a:t>
            </a:r>
          </a:p>
        </p:txBody>
      </p:sp>
      <p:sp>
        <p:nvSpPr>
          <p:cNvPr id="109" name="Panel grafo"/>
          <p:cNvSpPr/>
          <p:nvPr/>
        </p:nvSpPr>
        <p:spPr>
          <a:xfrm>
            <a:off x="548640" y="1417320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 flipV="1">
            <a:off x="1097280" y="1828800"/>
            <a:ext cx="594360" cy="228600"/>
          </a:xfrm>
          <a:prstGeom prst="line">
            <a:avLst/>
          </a:prstGeom>
          <a:ln w="25400">
            <a:solidFill>
              <a:srgbClr val="B5B3B4"/>
            </a:solidFill>
          </a:ln>
        </p:spPr>
      </p:cxnSp>
      <p:cxnSp>
        <p:nvCxnSpPr>
          <p:cNvPr id="111" name="Connector 110"/>
          <p:cNvCxnSpPr/>
          <p:nvPr/>
        </p:nvCxnSpPr>
        <p:spPr>
          <a:xfrm flipH="1">
            <a:off x="1417320" y="1828800"/>
            <a:ext cx="274320" cy="777240"/>
          </a:xfrm>
          <a:prstGeom prst="line">
            <a:avLst/>
          </a:prstGeom>
          <a:ln w="19050">
            <a:solidFill>
              <a:srgbClr val="B5B3B4"/>
            </a:solidFill>
          </a:ln>
        </p:spPr>
      </p:cxnSp>
      <p:cxnSp>
        <p:nvCxnSpPr>
          <p:cNvPr id="112" name="Connector 111"/>
          <p:cNvCxnSpPr/>
          <p:nvPr/>
        </p:nvCxnSpPr>
        <p:spPr>
          <a:xfrm>
            <a:off x="1691640" y="1828800"/>
            <a:ext cx="411480" cy="548640"/>
          </a:xfrm>
          <a:prstGeom prst="line">
            <a:avLst/>
          </a:prstGeom>
          <a:ln w="31750">
            <a:solidFill>
              <a:srgbClr val="B5B3B4"/>
            </a:solidFill>
          </a:ln>
        </p:spPr>
      </p:cxnSp>
      <p:cxnSp>
        <p:nvCxnSpPr>
          <p:cNvPr id="113" name="Connector 112"/>
          <p:cNvCxnSpPr/>
          <p:nvPr/>
        </p:nvCxnSpPr>
        <p:spPr>
          <a:xfrm flipV="1">
            <a:off x="1417320" y="2377440"/>
            <a:ext cx="685800" cy="228600"/>
          </a:xfrm>
          <a:prstGeom prst="line">
            <a:avLst/>
          </a:prstGeom>
          <a:ln w="12700">
            <a:solidFill>
              <a:srgbClr val="B5B3B4"/>
            </a:solidFill>
          </a:ln>
        </p:spPr>
      </p:cxnSp>
      <p:cxnSp>
        <p:nvCxnSpPr>
          <p:cNvPr id="114" name="Connector 113"/>
          <p:cNvCxnSpPr/>
          <p:nvPr/>
        </p:nvCxnSpPr>
        <p:spPr>
          <a:xfrm>
            <a:off x="1097280" y="2057400"/>
            <a:ext cx="320040" cy="548640"/>
          </a:xfrm>
          <a:prstGeom prst="line">
            <a:avLst/>
          </a:prstGeom>
          <a:ln w="12700">
            <a:solidFill>
              <a:srgbClr val="B5B3B4"/>
            </a:solidFill>
          </a:ln>
        </p:spPr>
      </p:cxnSp>
      <p:cxnSp>
        <p:nvCxnSpPr>
          <p:cNvPr id="115" name="Connector 114"/>
          <p:cNvCxnSpPr/>
          <p:nvPr/>
        </p:nvCxnSpPr>
        <p:spPr>
          <a:xfrm>
            <a:off x="2788920" y="1920240"/>
            <a:ext cx="594360" cy="365760"/>
          </a:xfrm>
          <a:prstGeom prst="line">
            <a:avLst/>
          </a:prstGeom>
          <a:ln w="31750">
            <a:solidFill>
              <a:srgbClr val="B5B3B4"/>
            </a:solidFill>
          </a:ln>
        </p:spPr>
      </p:cxnSp>
      <p:cxnSp>
        <p:nvCxnSpPr>
          <p:cNvPr id="116" name="Connector 115"/>
          <p:cNvCxnSpPr/>
          <p:nvPr/>
        </p:nvCxnSpPr>
        <p:spPr>
          <a:xfrm flipH="1">
            <a:off x="2971800" y="2286000"/>
            <a:ext cx="411480" cy="502920"/>
          </a:xfrm>
          <a:prstGeom prst="line">
            <a:avLst/>
          </a:prstGeom>
          <a:ln w="19050">
            <a:solidFill>
              <a:srgbClr val="B5B3B4"/>
            </a:solidFill>
          </a:ln>
        </p:spPr>
      </p:cxnSp>
      <p:cxnSp>
        <p:nvCxnSpPr>
          <p:cNvPr id="117" name="Connector 116"/>
          <p:cNvCxnSpPr/>
          <p:nvPr/>
        </p:nvCxnSpPr>
        <p:spPr>
          <a:xfrm>
            <a:off x="3383280" y="2286000"/>
            <a:ext cx="320040" cy="548640"/>
          </a:xfrm>
          <a:prstGeom prst="line">
            <a:avLst/>
          </a:prstGeom>
          <a:ln w="12700">
            <a:solidFill>
              <a:srgbClr val="B5B3B4"/>
            </a:solidFill>
          </a:ln>
        </p:spPr>
      </p:cxnSp>
      <p:cxnSp>
        <p:nvCxnSpPr>
          <p:cNvPr id="118" name="Connector 117"/>
          <p:cNvCxnSpPr/>
          <p:nvPr/>
        </p:nvCxnSpPr>
        <p:spPr>
          <a:xfrm>
            <a:off x="2788920" y="1920240"/>
            <a:ext cx="182880" cy="868680"/>
          </a:xfrm>
          <a:prstGeom prst="line">
            <a:avLst/>
          </a:prstGeom>
          <a:ln w="12700">
            <a:solidFill>
              <a:srgbClr val="B5B3B4"/>
            </a:solidFill>
          </a:ln>
        </p:spPr>
      </p:cxnSp>
      <p:cxnSp>
        <p:nvCxnSpPr>
          <p:cNvPr id="119" name="Connector 118"/>
          <p:cNvCxnSpPr/>
          <p:nvPr/>
        </p:nvCxnSpPr>
        <p:spPr>
          <a:xfrm>
            <a:off x="1188720" y="3246120"/>
            <a:ext cx="731520" cy="91440"/>
          </a:xfrm>
          <a:prstGeom prst="line">
            <a:avLst/>
          </a:prstGeom>
          <a:ln w="25400">
            <a:solidFill>
              <a:srgbClr val="B5B3B4"/>
            </a:solidFill>
          </a:ln>
        </p:spPr>
      </p:cxnSp>
      <p:cxnSp>
        <p:nvCxnSpPr>
          <p:cNvPr id="120" name="Connector 119"/>
          <p:cNvCxnSpPr/>
          <p:nvPr/>
        </p:nvCxnSpPr>
        <p:spPr>
          <a:xfrm flipV="1">
            <a:off x="1920240" y="3154680"/>
            <a:ext cx="685800" cy="182880"/>
          </a:xfrm>
          <a:prstGeom prst="line">
            <a:avLst/>
          </a:prstGeom>
          <a:ln w="19050">
            <a:solidFill>
              <a:srgbClr val="B5B3B4"/>
            </a:solidFill>
          </a:ln>
        </p:spPr>
      </p:cxnSp>
      <p:cxnSp>
        <p:nvCxnSpPr>
          <p:cNvPr id="121" name="Connector 120"/>
          <p:cNvCxnSpPr/>
          <p:nvPr/>
        </p:nvCxnSpPr>
        <p:spPr>
          <a:xfrm flipV="1">
            <a:off x="2103120" y="1920240"/>
            <a:ext cx="685800" cy="457200"/>
          </a:xfrm>
          <a:prstGeom prst="line">
            <a:avLst/>
          </a:prstGeom>
          <a:ln w="12700">
            <a:solidFill>
              <a:srgbClr val="B5B3B4"/>
            </a:solidFill>
          </a:ln>
        </p:spPr>
      </p:cxnSp>
      <p:cxnSp>
        <p:nvCxnSpPr>
          <p:cNvPr id="122" name="Connector 121"/>
          <p:cNvCxnSpPr/>
          <p:nvPr/>
        </p:nvCxnSpPr>
        <p:spPr>
          <a:xfrm flipH="1">
            <a:off x="1188720" y="2606040"/>
            <a:ext cx="228600" cy="640080"/>
          </a:xfrm>
          <a:prstGeom prst="line">
            <a:avLst/>
          </a:prstGeom>
          <a:ln w="12700">
            <a:solidFill>
              <a:srgbClr val="B5B3B4"/>
            </a:solidFill>
          </a:ln>
        </p:spPr>
      </p:cxnSp>
      <p:cxnSp>
        <p:nvCxnSpPr>
          <p:cNvPr id="123" name="Connector 122"/>
          <p:cNvCxnSpPr/>
          <p:nvPr/>
        </p:nvCxnSpPr>
        <p:spPr>
          <a:xfrm>
            <a:off x="2103120" y="2377440"/>
            <a:ext cx="502920" cy="777240"/>
          </a:xfrm>
          <a:prstGeom prst="line">
            <a:avLst/>
          </a:prstGeom>
          <a:ln w="12700">
            <a:solidFill>
              <a:srgbClr val="B5B3B4"/>
            </a:solidFill>
          </a:ln>
        </p:spPr>
      </p:cxnSp>
      <p:cxnSp>
        <p:nvCxnSpPr>
          <p:cNvPr id="124" name="Connector 123"/>
          <p:cNvCxnSpPr/>
          <p:nvPr/>
        </p:nvCxnSpPr>
        <p:spPr>
          <a:xfrm flipH="1">
            <a:off x="2606040" y="2788920"/>
            <a:ext cx="365760" cy="365760"/>
          </a:xfrm>
          <a:prstGeom prst="line">
            <a:avLst/>
          </a:prstGeom>
          <a:ln w="12700">
            <a:solidFill>
              <a:srgbClr val="B5B3B4"/>
            </a:solidFill>
          </a:ln>
        </p:spPr>
      </p:cxnSp>
      <p:sp>
        <p:nvSpPr>
          <p:cNvPr id="125" name="Oval 124"/>
          <p:cNvSpPr/>
          <p:nvPr/>
        </p:nvSpPr>
        <p:spPr>
          <a:xfrm>
            <a:off x="1005839" y="1965960"/>
            <a:ext cx="182880" cy="182880"/>
          </a:xfrm>
          <a:prstGeom prst="ellipse">
            <a:avLst/>
          </a:prstGeom>
          <a:solidFill>
            <a:srgbClr val="00E1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536192" y="1673352"/>
            <a:ext cx="310896" cy="310896"/>
          </a:xfrm>
          <a:prstGeom prst="ellipse">
            <a:avLst/>
          </a:prstGeom>
          <a:solidFill>
            <a:srgbClr val="00E1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325880" y="2514600"/>
            <a:ext cx="182880" cy="182880"/>
          </a:xfrm>
          <a:prstGeom prst="ellipse">
            <a:avLst/>
          </a:prstGeom>
          <a:solidFill>
            <a:srgbClr val="00E1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020824" y="2295144"/>
            <a:ext cx="164592" cy="164592"/>
          </a:xfrm>
          <a:prstGeom prst="ellipse">
            <a:avLst/>
          </a:prstGeom>
          <a:solidFill>
            <a:srgbClr val="00E1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2697479" y="1828800"/>
            <a:ext cx="182880" cy="182880"/>
          </a:xfrm>
          <a:prstGeom prst="ellipse">
            <a:avLst/>
          </a:prstGeom>
          <a:solidFill>
            <a:srgbClr val="4E4B4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264408" y="2167128"/>
            <a:ext cx="237744" cy="237744"/>
          </a:xfrm>
          <a:prstGeom prst="ellipse">
            <a:avLst/>
          </a:prstGeom>
          <a:solidFill>
            <a:srgbClr val="4E4B4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889504" y="2706624"/>
            <a:ext cx="164592" cy="164592"/>
          </a:xfrm>
          <a:prstGeom prst="ellipse">
            <a:avLst/>
          </a:prstGeom>
          <a:solidFill>
            <a:srgbClr val="4E4B4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630168" y="2761488"/>
            <a:ext cx="146304" cy="146304"/>
          </a:xfrm>
          <a:prstGeom prst="ellipse">
            <a:avLst/>
          </a:prstGeom>
          <a:solidFill>
            <a:srgbClr val="4E4B4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97280" y="3154679"/>
            <a:ext cx="182880" cy="182880"/>
          </a:xfrm>
          <a:prstGeom prst="ellipse">
            <a:avLst/>
          </a:prstGeom>
          <a:solidFill>
            <a:srgbClr val="9A9798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810512" y="3227832"/>
            <a:ext cx="219456" cy="219456"/>
          </a:xfrm>
          <a:prstGeom prst="ellipse">
            <a:avLst/>
          </a:prstGeom>
          <a:solidFill>
            <a:srgbClr val="9A9798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523744" y="3072384"/>
            <a:ext cx="164592" cy="164592"/>
          </a:xfrm>
          <a:prstGeom prst="ellipse">
            <a:avLst/>
          </a:prstGeom>
          <a:solidFill>
            <a:srgbClr val="9A9798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31520" y="3566160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Color = comunidad · tamaño = PageRank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Nodo = producto · arista = misma orden</a:t>
            </a:r>
          </a:p>
        </p:txBody>
      </p:sp>
      <p:sp>
        <p:nvSpPr>
          <p:cNvPr id="137" name="Panel gráfico"/>
          <p:cNvSpPr/>
          <p:nvPr/>
        </p:nvSpPr>
        <p:spPr>
          <a:xfrm>
            <a:off x="4297680" y="1417320"/>
            <a:ext cx="429768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480560" y="1481328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7C8A"/>
                </a:solidFill>
                <a:latin typeface="Space Grotesk"/>
              </a:rPr>
              <a:t>Louvain vs propagación de etiquetas</a:t>
            </a:r>
          </a:p>
        </p:txBody>
      </p:sp>
      <p:graphicFrame>
        <p:nvGraphicFramePr>
          <p:cNvPr id="139" name="Gráfico Louvain"/>
          <p:cNvGraphicFramePr>
            <a:graphicFrameLocks noGrp="1"/>
          </p:cNvGraphicFramePr>
          <p:nvPr/>
        </p:nvGraphicFramePr>
        <p:xfrm>
          <a:off x="4389120" y="1737360"/>
          <a:ext cx="4114800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0" name="Rounded Rectangle 139"/>
          <p:cNvSpPr/>
          <p:nvPr/>
        </p:nvSpPr>
        <p:spPr>
          <a:xfrm>
            <a:off x="548640" y="4023360"/>
            <a:ext cx="8046720" cy="41148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137160" rIns="137160" tIns="27432" bIns="27432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pace Grotesk"/>
              </a:rPr>
              <a:t>PageRank vs grado: </a:t>
            </a:r>
            <a:r>
              <a:rPr sz="1050" b="0" i="0">
                <a:solidFill>
                  <a:srgbClr val="FFFFFF"/>
                </a:solidFill>
                <a:latin typeface="Space Grotesk"/>
              </a:rPr>
              <a:t>top-20 coincide en 90 % · </a:t>
            </a:r>
            <a:r>
              <a:rPr sz="1050" b="1" i="0">
                <a:solidFill>
                  <a:srgbClr val="FFFFFF"/>
                </a:solidFill>
                <a:latin typeface="Space Grotesk"/>
              </a:rPr>
              <a:t>Grafo 1K: </a:t>
            </a:r>
            <a:r>
              <a:rPr sz="1050" b="0" i="0">
                <a:solidFill>
                  <a:srgbClr val="FFFFFF"/>
                </a:solidFill>
                <a:latin typeface="Space Grotesk"/>
              </a:rPr>
              <a:t>672 nodos, 997 aristas, órdenes simuladas · compras sin order_id no entran</a:t>
            </a:r>
          </a:p>
        </p:txBody>
      </p:sp>
      <p:sp>
        <p:nvSpPr>
          <p:cNvPr id="141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42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0</a:t>
            </a:r>
          </a:p>
        </p:txBody>
      </p:sp>
      <p:sp>
        <p:nvSpPr>
          <p:cNvPr id="143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1</a:t>
            </a:r>
          </a:p>
        </p:txBody>
      </p:sp>
      <p:sp>
        <p:nvSpPr>
          <p:cNvPr id="144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2</a:t>
            </a:r>
          </a:p>
        </p:txBody>
      </p:sp>
      <p:sp>
        <p:nvSpPr>
          <p:cNvPr id="145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3</a:t>
            </a:r>
          </a:p>
        </p:txBody>
      </p:sp>
      <p:sp>
        <p:nvSpPr>
          <p:cNvPr id="146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4</a:t>
            </a:r>
          </a:p>
        </p:txBody>
      </p:sp>
      <p:sp>
        <p:nvSpPr>
          <p:cNvPr id="147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5</a:t>
            </a:r>
          </a:p>
        </p:txBody>
      </p:sp>
      <p:sp>
        <p:nvSpPr>
          <p:cNvPr id="148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6</a:t>
            </a:r>
          </a:p>
        </p:txBody>
      </p:sp>
      <p:sp>
        <p:nvSpPr>
          <p:cNvPr id="149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7</a:t>
            </a:r>
          </a:p>
        </p:txBody>
      </p:sp>
      <p:sp>
        <p:nvSpPr>
          <p:cNvPr id="150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8</a:t>
            </a:r>
          </a:p>
        </p:txBody>
      </p:sp>
      <p:sp>
        <p:nvSpPr>
          <p:cNvPr id="151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9</a:t>
            </a:r>
          </a:p>
        </p:txBody>
      </p:sp>
      <p:sp>
        <p:nvSpPr>
          <p:cNvPr id="152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Guillermo Calderón · 7–9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Etapa 9: servicio y demo en vivo</a:t>
            </a:r>
          </a:p>
        </p:txBody>
      </p:sp>
      <p:sp>
        <p:nvSpPr>
          <p:cNvPr id="109" name="Servicio"/>
          <p:cNvSpPr/>
          <p:nvPr/>
        </p:nvSpPr>
        <p:spPr>
          <a:xfrm>
            <a:off x="548640" y="1417320"/>
            <a:ext cx="39319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1520" y="1508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7C8A"/>
                </a:solidFill>
                <a:latin typeface="Space Grotesk"/>
              </a:rPr>
              <a:t>Qué recibe el usuario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1520" y="1847088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5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Trie: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autocompletado por prefijo</a:t>
            </a:r>
          </a:p>
          <a:p>
            <a:pPr algn="l" marL="171450" indent="-171450">
              <a:spcAft>
                <a:spcPts val="5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Top-K (heap):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ranking de compras aceptadas, O(p log k)</a:t>
            </a:r>
          </a:p>
          <a:p>
            <a:pPr algn="l" marL="171450" indent="-171450">
              <a:spcAft>
                <a:spcPts val="500"/>
              </a:spcAft>
              <a:buClr>
                <a:srgbClr val="007C8A"/>
              </a:buClr>
              <a:buFont typeface="Arial"/>
              <a:buChar char="•"/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recommend():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une ANN, canastas, KD, rango B+, co-compra y PageRank y muestra el origen de cada puntaje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31520" y="370332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9525">
            <a:solidFill>
              <a:srgbClr val="D6D6D6"/>
            </a:solidFill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Corrida 1K: </a:t>
            </a:r>
            <a:r>
              <a:rPr sz="1100" b="0" i="0">
                <a:solidFill>
                  <a:srgbClr val="4E4B4C"/>
                </a:solidFill>
                <a:latin typeface="Space Grotesk"/>
              </a:rPr>
              <a:t>3 lotes · 2 alertas · 12 compras aceptadas</a:t>
            </a:r>
          </a:p>
        </p:txBody>
      </p:sp>
      <p:sp>
        <p:nvSpPr>
          <p:cNvPr id="113" name="Demo"/>
          <p:cNvSpPr/>
          <p:nvPr/>
        </p:nvSpPr>
        <p:spPr>
          <a:xfrm>
            <a:off x="4663440" y="1417320"/>
            <a:ext cx="3931920" cy="2971800"/>
          </a:xfrm>
          <a:prstGeom prst="roundRect">
            <a:avLst>
              <a:gd name="adj" fmla="val 8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846320" y="155448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DEMO · 3–4 min</a:t>
            </a:r>
          </a:p>
        </p:txBody>
      </p:sp>
      <p:sp>
        <p:nvSpPr>
          <p:cNvPr id="115" name="Oval 114"/>
          <p:cNvSpPr/>
          <p:nvPr/>
        </p:nvSpPr>
        <p:spPr>
          <a:xfrm>
            <a:off x="4846320" y="1965960"/>
            <a:ext cx="347472" cy="347472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E4B4C"/>
                </a:solidFill>
                <a:latin typeface="Space Grotesk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21808" y="19293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E1FF"/>
                </a:solidFill>
                <a:latin typeface="Space Grotesk"/>
              </a:rPr>
              <a:t>Ejecutar </a:t>
            </a:r>
            <a:r>
              <a:rPr sz="1100" b="0" i="0">
                <a:solidFill>
                  <a:srgbClr val="FFFFFF"/>
                </a:solidFill>
                <a:latin typeface="Space Grotesk"/>
              </a:rPr>
              <a:t>python main.py y abrir el visor</a:t>
            </a:r>
          </a:p>
        </p:txBody>
      </p:sp>
      <p:sp>
        <p:nvSpPr>
          <p:cNvPr id="117" name="Oval 116"/>
          <p:cNvSpPr/>
          <p:nvPr/>
        </p:nvSpPr>
        <p:spPr>
          <a:xfrm>
            <a:off x="4846320" y="2496312"/>
            <a:ext cx="347472" cy="347472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E4B4C"/>
                </a:solidFill>
                <a:latin typeface="Space Grotesk"/>
              </a:rPr>
              <a:t>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21808" y="245973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E1FF"/>
                </a:solidFill>
                <a:latin typeface="Space Grotesk"/>
              </a:rPr>
              <a:t>Seguir un lote: </a:t>
            </a:r>
            <a:r>
              <a:rPr sz="1100" b="0" i="0">
                <a:solidFill>
                  <a:srgbClr val="FFFFFF"/>
                </a:solidFill>
                <a:latin typeface="Space Grotesk"/>
              </a:rPr>
              <a:t>FIFO → heap → SQLite → índices</a:t>
            </a:r>
          </a:p>
        </p:txBody>
      </p:sp>
      <p:sp>
        <p:nvSpPr>
          <p:cNvPr id="119" name="Oval 118"/>
          <p:cNvSpPr/>
          <p:nvPr/>
        </p:nvSpPr>
        <p:spPr>
          <a:xfrm>
            <a:off x="4846320" y="3026663"/>
            <a:ext cx="347472" cy="347472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E4B4C"/>
                </a:solidFill>
                <a:latin typeface="Space Grotesk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21808" y="2990087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E1FF"/>
                </a:solidFill>
                <a:latin typeface="Space Grotesk"/>
              </a:rPr>
              <a:t>Etapa 6: </a:t>
            </a:r>
            <a:r>
              <a:rPr sz="1100" b="0" i="0">
                <a:solidFill>
                  <a:srgbClr val="FFFFFF"/>
                </a:solidFill>
                <a:latin typeface="Space Grotesk"/>
              </a:rPr>
              <a:t>ver las 2 alertas de revisión</a:t>
            </a:r>
          </a:p>
        </p:txBody>
      </p:sp>
      <p:sp>
        <p:nvSpPr>
          <p:cNvPr id="121" name="Oval 120"/>
          <p:cNvSpPr/>
          <p:nvPr/>
        </p:nvSpPr>
        <p:spPr>
          <a:xfrm>
            <a:off x="4846320" y="3557015"/>
            <a:ext cx="347472" cy="347472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E4B4C"/>
                </a:solidFill>
                <a:latin typeface="Space Grotesk"/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21808" y="35204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E1FF"/>
                </a:solidFill>
                <a:latin typeface="Space Grotesk"/>
              </a:rPr>
              <a:t>Consultas: </a:t>
            </a:r>
            <a:r>
              <a:rPr sz="1100" b="0" i="0">
                <a:solidFill>
                  <a:srgbClr val="FFFFFF"/>
                </a:solidFill>
                <a:latin typeface="Space Grotesk"/>
              </a:rPr>
              <a:t>rango, prefijo, Top-K y una recomendación con sus señales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46320" y="416052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6D6D6"/>
                </a:solidFill>
                <a:latin typeface="Space Grotesk"/>
              </a:rPr>
              <a:t>Plan B: output/results/last_pipeline.json</a:t>
            </a:r>
          </a:p>
        </p:txBody>
      </p:sp>
      <p:sp>
        <p:nvSpPr>
          <p:cNvPr id="124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25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0</a:t>
            </a:r>
          </a:p>
        </p:txBody>
      </p:sp>
      <p:sp>
        <p:nvSpPr>
          <p:cNvPr id="126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1</a:t>
            </a:r>
          </a:p>
        </p:txBody>
      </p:sp>
      <p:sp>
        <p:nvSpPr>
          <p:cNvPr id="127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2</a:t>
            </a:r>
          </a:p>
        </p:txBody>
      </p:sp>
      <p:sp>
        <p:nvSpPr>
          <p:cNvPr id="128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3</a:t>
            </a:r>
          </a:p>
        </p:txBody>
      </p:sp>
      <p:sp>
        <p:nvSpPr>
          <p:cNvPr id="129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4</a:t>
            </a:r>
          </a:p>
        </p:txBody>
      </p:sp>
      <p:sp>
        <p:nvSpPr>
          <p:cNvPr id="130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5</a:t>
            </a:r>
          </a:p>
        </p:txBody>
      </p:sp>
      <p:sp>
        <p:nvSpPr>
          <p:cNvPr id="131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6</a:t>
            </a:r>
          </a:p>
        </p:txBody>
      </p:sp>
      <p:sp>
        <p:nvSpPr>
          <p:cNvPr id="132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7</a:t>
            </a:r>
          </a:p>
        </p:txBody>
      </p:sp>
      <p:sp>
        <p:nvSpPr>
          <p:cNvPr id="133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pace Grotesk"/>
              </a:rPr>
              <a:t>8</a:t>
            </a:r>
          </a:p>
        </p:txBody>
      </p:sp>
      <p:sp>
        <p:nvSpPr>
          <p:cNvPr id="134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4B4C"/>
                </a:solidFill>
                <a:latin typeface="Space Grotesk"/>
              </a:rPr>
              <a:t>9</a:t>
            </a:r>
          </a:p>
        </p:txBody>
      </p:sp>
      <p:sp>
        <p:nvSpPr>
          <p:cNvPr id="135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Guillermo Calderón · 9 +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Evidencia experimental: 1K × 100</a:t>
            </a:r>
          </a:p>
        </p:txBody>
      </p:sp>
      <p:sp>
        <p:nvSpPr>
          <p:cNvPr id="109" name="Panel evidencia"/>
          <p:cNvSpPr/>
          <p:nvPr/>
        </p:nvSpPr>
        <p:spPr>
          <a:xfrm>
            <a:off x="548640" y="1417320"/>
            <a:ext cx="521208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1520" y="148132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7C8A"/>
                </a:solidFill>
                <a:latin typeface="Space Grotesk"/>
              </a:rPr>
              <a:t>Tiempo total por familia (ms, escala logarítmica)</a:t>
            </a:r>
          </a:p>
        </p:txBody>
      </p:sp>
      <p:graphicFrame>
        <p:nvGraphicFramePr>
          <p:cNvPr id="111" name="Gráfico tiempos 1K"/>
          <p:cNvGraphicFramePr>
            <a:graphicFrameLocks noGrp="1"/>
          </p:cNvGraphicFramePr>
          <p:nvPr/>
        </p:nvGraphicFramePr>
        <p:xfrm>
          <a:off x="640080" y="1737360"/>
          <a:ext cx="502920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2" name="TextBox 111"/>
          <p:cNvSpPr txBox="1"/>
          <p:nvPr/>
        </p:nvSpPr>
        <p:spPr>
          <a:xfrm>
            <a:off x="731520" y="40050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* HNSW incluye construir el índice (1.423 ms); 5 consultas: 3,7 ms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943600" y="1417320"/>
            <a:ext cx="26517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053328" y="1417320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7C8A"/>
                </a:solidFill>
                <a:latin typeface="Space Grotesk"/>
              </a:rPr>
              <a:t>0,600 %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32320" y="1417320"/>
            <a:ext cx="1417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Bloom: falsos positivos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943600" y="2185416"/>
            <a:ext cx="26517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053328" y="2185416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7C8A"/>
                </a:solidFill>
                <a:latin typeface="Space Grotesk"/>
              </a:rPr>
              <a:t>1,000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32320" y="2185416"/>
            <a:ext cx="1417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LSH: recall y precisión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943600" y="2953512"/>
            <a:ext cx="26517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053328" y="2953512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7C8A"/>
                </a:solidFill>
                <a:latin typeface="Space Grotesk"/>
              </a:rPr>
              <a:t>1,000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132320" y="2953512"/>
            <a:ext cx="1417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HNSW: recall@5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943600" y="3721608"/>
            <a:ext cx="26517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053328" y="3721608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7C8A"/>
                </a:solidFill>
                <a:latin typeface="Space Grotesk"/>
              </a:rPr>
              <a:t>0,900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132320" y="3721608"/>
            <a:ext cx="1417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6869"/>
                </a:solidFill>
                <a:latin typeface="Space Grotesk"/>
              </a:rPr>
              <a:t>PageRank vs grado (top-20)</a:t>
            </a:r>
          </a:p>
        </p:txBody>
      </p:sp>
      <p:sp>
        <p:nvSpPr>
          <p:cNvPr id="125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26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0</a:t>
            </a:r>
          </a:p>
        </p:txBody>
      </p:sp>
      <p:sp>
        <p:nvSpPr>
          <p:cNvPr id="127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1</a:t>
            </a:r>
          </a:p>
        </p:txBody>
      </p:sp>
      <p:sp>
        <p:nvSpPr>
          <p:cNvPr id="128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2</a:t>
            </a:r>
          </a:p>
        </p:txBody>
      </p:sp>
      <p:sp>
        <p:nvSpPr>
          <p:cNvPr id="129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3</a:t>
            </a:r>
          </a:p>
        </p:txBody>
      </p:sp>
      <p:sp>
        <p:nvSpPr>
          <p:cNvPr id="130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4</a:t>
            </a:r>
          </a:p>
        </p:txBody>
      </p:sp>
      <p:sp>
        <p:nvSpPr>
          <p:cNvPr id="131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5</a:t>
            </a:r>
          </a:p>
        </p:txBody>
      </p:sp>
      <p:sp>
        <p:nvSpPr>
          <p:cNvPr id="132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6</a:t>
            </a:r>
          </a:p>
        </p:txBody>
      </p:sp>
      <p:sp>
        <p:nvSpPr>
          <p:cNvPr id="133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7</a:t>
            </a:r>
          </a:p>
        </p:txBody>
      </p:sp>
      <p:sp>
        <p:nvSpPr>
          <p:cNvPr id="134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8</a:t>
            </a:r>
          </a:p>
        </p:txBody>
      </p:sp>
      <p:sp>
        <p:nvSpPr>
          <p:cNvPr id="135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9</a:t>
            </a:r>
          </a:p>
        </p:txBody>
      </p:sp>
      <p:sp>
        <p:nvSpPr>
          <p:cNvPr id="136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Jesús Delgado · evidencia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E4B4C"/>
                </a:solidFill>
                <a:latin typeface="Space Grotesk"/>
              </a:rPr>
              <a:t>Escalas de 10K a 10M (exploratorio)</a:t>
            </a:r>
          </a:p>
        </p:txBody>
      </p:sp>
      <p:sp>
        <p:nvSpPr>
          <p:cNvPr id="109" name="Panel figura"/>
          <p:cNvSpPr/>
          <p:nvPr/>
        </p:nvSpPr>
        <p:spPr>
          <a:xfrm>
            <a:off x="548640" y="141732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0" name="Figura escalabilidad" descr="Gráfica log-log de tiempos de Bloom, set, CMS y Counter de 10 mil a 10 millones de even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663440" cy="2690446"/>
          </a:xfrm>
          <a:prstGeom prst="rect">
            <a:avLst/>
          </a:prstGeom>
        </p:spPr>
      </p:pic>
      <p:graphicFrame>
        <p:nvGraphicFramePr>
          <p:cNvPr id="111" name="Tabla escalas"/>
          <p:cNvGraphicFramePr>
            <a:graphicFrameLocks noGrp="1"/>
          </p:cNvGraphicFramePr>
          <p:nvPr/>
        </p:nvGraphicFramePr>
        <p:xfrm>
          <a:off x="5577840" y="1417320"/>
          <a:ext cx="3017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pace Grotesk"/>
                        </a:rPr>
                        <a:t>Eventos</a:t>
                      </a:r>
                    </a:p>
                  </a:txBody>
                  <a:tcPr marL="91440" marR="91440" marT="27432" marB="27432" anchor="ctr">
                    <a:lnB w="9525">
                      <a:solidFill>
                        <a:srgbClr val="D9D9D9"/>
                      </a:solidFill>
                    </a:lnB>
                    <a:lnT w="9525">
                      <a:solidFill>
                        <a:srgbClr val="D9D9D9"/>
                      </a:solidFill>
                    </a:lnT>
                    <a:lnR w="9525">
                      <a:solidFill>
                        <a:srgbClr val="D9D9D9"/>
                      </a:solidFill>
                    </a:lnR>
                    <a:lnL w="9525">
                      <a:solidFill>
                        <a:srgbClr val="D9D9D9"/>
                      </a:solidFill>
                    </a:lnL>
                    <a:solidFill>
                      <a:srgbClr val="4E4B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Space Grotesk"/>
                        </a:rPr>
                        <a:t>Claves distintas</a:t>
                      </a:r>
                    </a:p>
                  </a:txBody>
                  <a:tcPr marL="91440" marR="91440" marT="27432" marB="27432" anchor="ctr">
                    <a:lnB w="9525">
                      <a:solidFill>
                        <a:srgbClr val="D9D9D9"/>
                      </a:solidFill>
                    </a:lnB>
                    <a:lnT w="9525">
                      <a:solidFill>
                        <a:srgbClr val="D9D9D9"/>
                      </a:solidFill>
                    </a:lnT>
                    <a:lnR w="9525">
                      <a:solidFill>
                        <a:srgbClr val="D9D9D9"/>
                      </a:solidFill>
                    </a:lnR>
                    <a:lnL w="9525">
                      <a:solidFill>
                        <a:srgbClr val="D9D9D9"/>
                      </a:solidFill>
                    </a:lnL>
                    <a:solidFill>
                      <a:srgbClr val="4E4B4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E4B4C"/>
                          </a:solidFill>
                          <a:latin typeface="Space Grotesk"/>
                        </a:rPr>
                        <a:t>10.000</a:t>
                      </a:r>
                    </a:p>
                  </a:txBody>
                  <a:tcPr marL="91440" marR="91440" marT="27432" marB="27432" anchor="ctr">
                    <a:lnB w="9525">
                      <a:solidFill>
                        <a:srgbClr val="D9D9D9"/>
                      </a:solidFill>
                    </a:lnB>
                    <a:lnT w="9525">
                      <a:solidFill>
                        <a:srgbClr val="D9D9D9"/>
                      </a:solidFill>
                    </a:lnT>
                    <a:lnR w="9525">
                      <a:solidFill>
                        <a:srgbClr val="D9D9D9"/>
                      </a:solidFill>
                    </a:lnR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4E4B4C"/>
                          </a:solidFill>
                          <a:latin typeface="Space Grotesk"/>
                        </a:rPr>
                        <a:t>4.270</a:t>
                      </a:r>
                    </a:p>
                  </a:txBody>
                  <a:tcPr marL="91440" marR="91440" marT="27432" marB="27432" anchor="ctr">
                    <a:lnB w="9525">
                      <a:solidFill>
                        <a:srgbClr val="D9D9D9"/>
                      </a:solidFill>
                    </a:lnB>
                    <a:lnT w="9525">
                      <a:solidFill>
                        <a:srgbClr val="D9D9D9"/>
                      </a:solidFill>
                    </a:lnT>
                    <a:lnR w="9525">
                      <a:solidFill>
                        <a:srgbClr val="D9D9D9"/>
                      </a:solidFill>
                    </a:lnR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E4B4C"/>
                          </a:solidFill>
                          <a:latin typeface="Space Grotesk"/>
                        </a:rPr>
                        <a:t>100.000</a:t>
                      </a:r>
                    </a:p>
                  </a:txBody>
                  <a:tcPr marL="91440" marR="91440" marT="27432" marB="27432" anchor="ctr">
                    <a:lnB w="9525">
                      <a:solidFill>
                        <a:srgbClr val="D9D9D9"/>
                      </a:solidFill>
                    </a:lnB>
                    <a:lnT w="9525">
                      <a:solidFill>
                        <a:srgbClr val="D9D9D9"/>
                      </a:solidFill>
                    </a:lnT>
                    <a:lnR w="9525">
                      <a:solidFill>
                        <a:srgbClr val="D9D9D9"/>
                      </a:solidFill>
                    </a:lnR>
                    <a:lnL w="9525">
                      <a:solidFill>
                        <a:srgbClr val="D9D9D9"/>
                      </a:solidFill>
                    </a:lnL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4E4B4C"/>
                          </a:solidFill>
                          <a:latin typeface="Space Grotesk"/>
                        </a:rPr>
                        <a:t>20.675</a:t>
                      </a:r>
                    </a:p>
                  </a:txBody>
                  <a:tcPr marL="91440" marR="91440" marT="27432" marB="27432" anchor="ctr">
                    <a:lnB w="9525">
                      <a:solidFill>
                        <a:srgbClr val="D9D9D9"/>
                      </a:solidFill>
                    </a:lnB>
                    <a:lnT w="9525">
                      <a:solidFill>
                        <a:srgbClr val="D9D9D9"/>
                      </a:solidFill>
                    </a:lnT>
                    <a:lnR w="9525">
                      <a:solidFill>
                        <a:srgbClr val="D9D9D9"/>
                      </a:solidFill>
                    </a:lnR>
                    <a:lnL w="9525">
                      <a:solidFill>
                        <a:srgbClr val="D9D9D9"/>
                      </a:solidFill>
                    </a:lnL>
                    <a:solidFill>
                      <a:srgbClr val="F4F4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E4B4C"/>
                          </a:solidFill>
                          <a:latin typeface="Space Grotesk"/>
                        </a:rPr>
                        <a:t>1.000.000</a:t>
                      </a:r>
                    </a:p>
                  </a:txBody>
                  <a:tcPr marL="91440" marR="91440" marT="27432" marB="27432" anchor="ctr">
                    <a:lnB w="9525">
                      <a:solidFill>
                        <a:srgbClr val="D9D9D9"/>
                      </a:solidFill>
                    </a:lnB>
                    <a:lnT w="9525">
                      <a:solidFill>
                        <a:srgbClr val="D9D9D9"/>
                      </a:solidFill>
                    </a:lnT>
                    <a:lnR w="9525">
                      <a:solidFill>
                        <a:srgbClr val="D9D9D9"/>
                      </a:solidFill>
                    </a:lnR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4E4B4C"/>
                          </a:solidFill>
                          <a:latin typeface="Space Grotesk"/>
                        </a:rPr>
                        <a:t>66.001</a:t>
                      </a:r>
                    </a:p>
                  </a:txBody>
                  <a:tcPr marL="91440" marR="91440" marT="27432" marB="27432" anchor="ctr">
                    <a:lnB w="9525">
                      <a:solidFill>
                        <a:srgbClr val="D9D9D9"/>
                      </a:solidFill>
                    </a:lnB>
                    <a:lnT w="9525">
                      <a:solidFill>
                        <a:srgbClr val="D9D9D9"/>
                      </a:solidFill>
                    </a:lnT>
                    <a:lnR w="9525">
                      <a:solidFill>
                        <a:srgbClr val="D9D9D9"/>
                      </a:solidFill>
                    </a:lnR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E4B4C"/>
                          </a:solidFill>
                          <a:latin typeface="Space Grotesk"/>
                        </a:rPr>
                        <a:t>10.000.000</a:t>
                      </a:r>
                    </a:p>
                  </a:txBody>
                  <a:tcPr marL="91440" marR="91440" marT="27432" marB="27432" anchor="ctr">
                    <a:lnB w="9525">
                      <a:solidFill>
                        <a:srgbClr val="D9D9D9"/>
                      </a:solidFill>
                    </a:lnB>
                    <a:lnT w="9525">
                      <a:solidFill>
                        <a:srgbClr val="D9D9D9"/>
                      </a:solidFill>
                    </a:lnT>
                    <a:lnR w="9525">
                      <a:solidFill>
                        <a:srgbClr val="D9D9D9"/>
                      </a:solidFill>
                    </a:lnR>
                    <a:lnL w="9525">
                      <a:solidFill>
                        <a:srgbClr val="D9D9D9"/>
                      </a:solidFill>
                    </a:lnL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4E4B4C"/>
                          </a:solidFill>
                          <a:latin typeface="Space Grotesk"/>
                        </a:rPr>
                        <a:t>133.917</a:t>
                      </a:r>
                    </a:p>
                  </a:txBody>
                  <a:tcPr marL="91440" marR="91440" marT="27432" marB="27432" anchor="ctr">
                    <a:lnB w="9525">
                      <a:solidFill>
                        <a:srgbClr val="D9D9D9"/>
                      </a:solidFill>
                    </a:lnB>
                    <a:lnT w="9525">
                      <a:solidFill>
                        <a:srgbClr val="D9D9D9"/>
                      </a:solidFill>
                    </a:lnT>
                    <a:lnR w="9525">
                      <a:solidFill>
                        <a:srgbClr val="D9D9D9"/>
                      </a:solidFill>
                    </a:lnR>
                    <a:lnL w="9525">
                      <a:solidFill>
                        <a:srgbClr val="D9D9D9"/>
                      </a:solidFill>
                    </a:lnL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12" name="Límites escalas"/>
          <p:cNvSpPr/>
          <p:nvPr/>
        </p:nvSpPr>
        <p:spPr>
          <a:xfrm>
            <a:off x="5577840" y="320040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15000" y="3273552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050" b="1" i="0">
                <a:solidFill>
                  <a:srgbClr val="4E4B4C"/>
                </a:solidFill>
                <a:latin typeface="Space Grotesk"/>
              </a:rPr>
              <a:t>1 repetición </a:t>
            </a:r>
            <a:r>
              <a:rPr sz="1050" b="0" i="0">
                <a:solidFill>
                  <a:srgbClr val="4E4B4C"/>
                </a:solidFill>
                <a:latin typeface="Space Grotesk"/>
              </a:rPr>
              <a:t>por escala: sin desviación estándar</a:t>
            </a:r>
          </a:p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050" b="1" i="0">
                <a:solidFill>
                  <a:srgbClr val="4E4B4C"/>
                </a:solidFill>
                <a:latin typeface="Space Grotesk"/>
              </a:rPr>
              <a:t>Analítica recortada: </a:t>
            </a:r>
            <a:r>
              <a:rPr sz="1050" b="0" i="0">
                <a:solidFill>
                  <a:srgbClr val="4E4B4C"/>
                </a:solidFill>
                <a:latin typeface="Space Grotesk"/>
              </a:rPr>
              <a:t>300 vectores y conjuntos; grafo con 900 eventos</a:t>
            </a:r>
          </a:p>
          <a:p>
            <a:pPr algn="l" marL="171450" indent="-171450">
              <a:spcAft>
                <a:spcPts val="300"/>
              </a:spcAft>
              <a:buClr>
                <a:srgbClr val="007C8A"/>
              </a:buClr>
              <a:buFont typeface="Arial"/>
              <a:buChar char="•"/>
            </a:pPr>
            <a:r>
              <a:rPr sz="1050" b="0" i="0">
                <a:solidFill>
                  <a:srgbClr val="4E4B4C"/>
                </a:solidFill>
                <a:latin typeface="Space Grotesk"/>
              </a:rPr>
              <a:t>Sin extrapolar a latencias ni a HNSW, LSH o comunidades</a:t>
            </a:r>
          </a:p>
        </p:txBody>
      </p:sp>
      <p:sp>
        <p:nvSpPr>
          <p:cNvPr id="114" name="Etiqueta pipeline"/>
          <p:cNvSpPr txBox="1"/>
          <p:nvPr/>
        </p:nvSpPr>
        <p:spPr>
          <a:xfrm>
            <a:off x="54864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869"/>
                </a:solidFill>
                <a:latin typeface="Space Grotesk"/>
              </a:rPr>
              <a:t>PIPELINE</a:t>
            </a:r>
          </a:p>
        </p:txBody>
      </p:sp>
      <p:sp>
        <p:nvSpPr>
          <p:cNvPr id="115" name="Etapa 0"/>
          <p:cNvSpPr/>
          <p:nvPr/>
        </p:nvSpPr>
        <p:spPr>
          <a:xfrm>
            <a:off x="13716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0</a:t>
            </a:r>
          </a:p>
        </p:txBody>
      </p:sp>
      <p:sp>
        <p:nvSpPr>
          <p:cNvPr id="116" name="Etapa 1"/>
          <p:cNvSpPr/>
          <p:nvPr/>
        </p:nvSpPr>
        <p:spPr>
          <a:xfrm>
            <a:off x="17373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1</a:t>
            </a:r>
          </a:p>
        </p:txBody>
      </p:sp>
      <p:sp>
        <p:nvSpPr>
          <p:cNvPr id="117" name="Etapa 2"/>
          <p:cNvSpPr/>
          <p:nvPr/>
        </p:nvSpPr>
        <p:spPr>
          <a:xfrm>
            <a:off x="21031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2</a:t>
            </a:r>
          </a:p>
        </p:txBody>
      </p:sp>
      <p:sp>
        <p:nvSpPr>
          <p:cNvPr id="118" name="Etapa 3"/>
          <p:cNvSpPr/>
          <p:nvPr/>
        </p:nvSpPr>
        <p:spPr>
          <a:xfrm>
            <a:off x="24688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3</a:t>
            </a:r>
          </a:p>
        </p:txBody>
      </p:sp>
      <p:sp>
        <p:nvSpPr>
          <p:cNvPr id="119" name="Etapa 4"/>
          <p:cNvSpPr/>
          <p:nvPr/>
        </p:nvSpPr>
        <p:spPr>
          <a:xfrm>
            <a:off x="28346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4</a:t>
            </a:r>
          </a:p>
        </p:txBody>
      </p:sp>
      <p:sp>
        <p:nvSpPr>
          <p:cNvPr id="120" name="Etapa 5"/>
          <p:cNvSpPr/>
          <p:nvPr/>
        </p:nvSpPr>
        <p:spPr>
          <a:xfrm>
            <a:off x="320040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5</a:t>
            </a:r>
          </a:p>
        </p:txBody>
      </p:sp>
      <p:sp>
        <p:nvSpPr>
          <p:cNvPr id="121" name="Etapa 6"/>
          <p:cNvSpPr/>
          <p:nvPr/>
        </p:nvSpPr>
        <p:spPr>
          <a:xfrm>
            <a:off x="356616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6</a:t>
            </a:r>
          </a:p>
        </p:txBody>
      </p:sp>
      <p:sp>
        <p:nvSpPr>
          <p:cNvPr id="122" name="Etapa 7"/>
          <p:cNvSpPr/>
          <p:nvPr/>
        </p:nvSpPr>
        <p:spPr>
          <a:xfrm>
            <a:off x="393192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7</a:t>
            </a:r>
          </a:p>
        </p:txBody>
      </p:sp>
      <p:sp>
        <p:nvSpPr>
          <p:cNvPr id="123" name="Etapa 8"/>
          <p:cNvSpPr/>
          <p:nvPr/>
        </p:nvSpPr>
        <p:spPr>
          <a:xfrm>
            <a:off x="429768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8</a:t>
            </a:r>
          </a:p>
        </p:txBody>
      </p:sp>
      <p:sp>
        <p:nvSpPr>
          <p:cNvPr id="124" name="Etapa 9"/>
          <p:cNvSpPr/>
          <p:nvPr/>
        </p:nvSpPr>
        <p:spPr>
          <a:xfrm>
            <a:off x="4663440" y="454456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D6D6D6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6869"/>
                </a:solidFill>
                <a:latin typeface="Space Grotesk"/>
              </a:rPr>
              <a:t>9</a:t>
            </a:r>
          </a:p>
        </p:txBody>
      </p:sp>
      <p:sp>
        <p:nvSpPr>
          <p:cNvPr id="125" name="Expositor"/>
          <p:cNvSpPr/>
          <p:nvPr/>
        </p:nvSpPr>
        <p:spPr>
          <a:xfrm>
            <a:off x="5120640" y="45445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4E4B4C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Expone: </a:t>
            </a:r>
            <a:r>
              <a:rPr sz="1000" b="1" i="0">
                <a:solidFill>
                  <a:srgbClr val="FFFFFF"/>
                </a:solidFill>
                <a:latin typeface="Space Grotesk"/>
              </a:rPr>
              <a:t>Jesús Delgado · evidencia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8" name="Título"/>
          <p:cNvSpPr txBox="1"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E1FF"/>
                </a:solidFill>
                <a:latin typeface="Space Grotesk"/>
              </a:rPr>
              <a:t>Conclusiones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" y="13716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E1FF"/>
                </a:solidFill>
                <a:latin typeface="Space Grotesk"/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1560" y="13716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pace Grotesk"/>
              </a:rPr>
              <a:t>Pipeline integrado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1560" y="164592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Diez etapas conectadas; cada salida alimenta la siguiente. 11 pruebas pasan.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204825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E1FF"/>
                </a:solidFill>
                <a:latin typeface="Space Grotesk"/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1560" y="204825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pace Grotesk"/>
              </a:rPr>
              <a:t>Construir no es consultar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51560" y="232257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HNSW: 1.423 ms para construir vs 3,7 ms en 5 consultas.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8640" y="272491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E1FF"/>
                </a:solidFill>
                <a:latin typeface="Space Grotesk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1560" y="27249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pace Grotesk"/>
              </a:rPr>
              <a:t>Tiempo y memoria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1560" y="2999232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En 1K los nativos ganan en tiempo; Bloom usó 1,2 KiB vs 48 KiB del set.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3401568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E1FF"/>
                </a:solidFill>
                <a:latin typeface="Space Grotesk"/>
              </a:rPr>
              <a:t>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51560" y="34015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pace Grotesk"/>
              </a:rPr>
              <a:t>Límites declarados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1560" y="3675887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6D6"/>
                </a:solidFill>
                <a:latin typeface="Space Grotesk"/>
              </a:rPr>
              <a:t>Sin órdenes reales ni etiquetas; 10M exploratorio con 1 repetición.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8640" y="429768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00E1FF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E4B4C"/>
                </a:solidFill>
                <a:latin typeface="Space Grotesk"/>
              </a:rPr>
              <a:t>Gracias · ¿Preguntas?</a:t>
            </a:r>
          </a:p>
        </p:txBody>
      </p:sp>
      <p:pic>
        <p:nvPicPr>
          <p:cNvPr id="122" name="Ilustración bombilla" descr="Bombilla con circuito, ilustración de la plantilla UTE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25880"/>
            <a:ext cx="31546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/>
        </p:nvSpPr>
        <p:spPr>
          <a:xfrm>
            <a:off x="641450" y="1738350"/>
            <a:ext cx="1737360" cy="4566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E4B4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EDA · 2026-2</a:t>
            </a:r>
            <a:endParaRPr sz="2000">
              <a:solidFill>
                <a:srgbClr val="4E4B4C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527700" y="242600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PIPELINE DE DATOS</a:t>
            </a:r>
            <a:endParaRPr sz="57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6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COMERCIO ELECTRÓNICO</a:t>
            </a:r>
            <a:endParaRPr sz="5700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72" name="Subtítulo"/>
          <p:cNvSpPr txBox="1"/>
          <p:nvPr/>
        </p:nvSpPr>
        <p:spPr>
          <a:xfrm>
            <a:off x="640080" y="3611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pace Grotesk"/>
              </a:rPr>
              <a:t>Procesamiento en streaming por microlotes · diez etapas integradas</a:t>
            </a:r>
          </a:p>
        </p:txBody>
      </p:sp>
      <p:sp>
        <p:nvSpPr>
          <p:cNvPr id="73" name="Equipo"/>
          <p:cNvSpPr txBox="1"/>
          <p:nvPr/>
        </p:nvSpPr>
        <p:spPr>
          <a:xfrm>
            <a:off x="640080" y="40233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E8E8"/>
                </a:solidFill>
                <a:latin typeface="Space Grotesk"/>
              </a:rPr>
              <a:t>Jesús Delgado · Erik Poma · Mentor Naquiche · Guillermo Calderón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8E8E8"/>
                </a:solidFill>
                <a:latin typeface="Space Grotesk"/>
              </a:rPr>
              <a:t>Docente: Heider Sánchez Enríquez · UTEC Posgrado · Lima, Perú · 2026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E4B4C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766517" y="263575"/>
            <a:ext cx="43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</a:t>
            </a:r>
            <a:r>
              <a:rPr b="1" lang="es" sz="28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</a:t>
            </a:r>
            <a:endParaRPr b="1" i="0" sz="28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27608" y="361041"/>
            <a:ext cx="472626" cy="42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182" y="319979"/>
            <a:ext cx="1846563" cy="35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64401">
            <a:off x="6453544" y="1727331"/>
            <a:ext cx="2242488" cy="223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4425" y="1252325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1437682" y="1304302"/>
            <a:ext cx="306324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Jesús · Etapas 0–2 y cierre</a:t>
            </a:r>
            <a:endParaRPr sz="1200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r>
              <a:rPr sz="1000">
                <a:solidFill>
                  <a:srgbClr val="5A5758"/>
                </a:solidFill>
                <a:latin typeface="Space Grotesk"/>
              </a:rPr>
              <a:t>Contexto, ingesta, validación, prioridad</a:t>
            </a:r>
          </a:p>
        </p:txBody>
      </p:sp>
      <p:sp>
        <p:nvSpPr>
          <p:cNvPr id="83" name="Google Shape;83;p14"/>
          <p:cNvSpPr txBox="1"/>
          <p:nvPr/>
        </p:nvSpPr>
        <p:spPr>
          <a:xfrm>
            <a:off x="946641" y="1283350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3250" y="2129513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982166" y="2106225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1437676" y="2169824"/>
            <a:ext cx="306324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Erik · Etapas 3–4</a:t>
            </a:r>
            <a:endParaRPr sz="1200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r>
              <a:rPr sz="1000">
                <a:solidFill>
                  <a:srgbClr val="5A5758"/>
                </a:solidFill>
                <a:latin typeface="Space Grotesk"/>
              </a:rPr>
              <a:t>Almacenamiento, caché y B+ en disco</a:t>
            </a:r>
          </a:p>
        </p:txBody>
      </p:sp>
      <p:pic>
        <p:nvPicPr>
          <p:cNvPr id="87" name="Google Shape;8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3250" y="2975675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946660" y="2975675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1437676" y="3046874"/>
            <a:ext cx="306324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Mentor · Etapas 5–6</a:t>
            </a:r>
            <a:endParaRPr sz="1200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r>
              <a:rPr sz="1000">
                <a:solidFill>
                  <a:srgbClr val="5A5758"/>
                </a:solidFill>
                <a:latin typeface="Space Grotesk"/>
              </a:rPr>
              <a:t>KD-Tree y filtrado Bloom + CMS</a:t>
            </a:r>
          </a:p>
        </p:txBody>
      </p:sp>
      <p:pic>
        <p:nvPicPr>
          <p:cNvPr id="90" name="Google Shape;9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3250" y="3821850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946660" y="3821850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437676" y="3854774"/>
            <a:ext cx="306324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Guillermo · Etapas 7–9 y demo</a:t>
            </a:r>
            <a:endParaRPr sz="1200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r>
              <a:rPr sz="1000">
                <a:solidFill>
                  <a:srgbClr val="5A5758"/>
                </a:solidFill>
                <a:latin typeface="Space Grotesk"/>
              </a:rPr>
              <a:t>Similitud, grafo y servicio en vivo</a:t>
            </a:r>
          </a:p>
        </p:txBody>
      </p:sp>
      <p:sp>
        <p:nvSpPr>
          <p:cNvPr id="93" name="Subtítulo índice"/>
          <p:cNvSpPr txBox="1"/>
          <p:nvPr/>
        </p:nvSpPr>
        <p:spPr>
          <a:xfrm>
            <a:off x="768096" y="85039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6D6"/>
                </a:solidFill>
                <a:latin typeface="Space Grotesk"/>
              </a:rPr>
              <a:t>15 min de exposición · demo de 3–4 min · cada uno expone sus etapas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