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Apertura de 20 s. Presentar al equipo y el escenario B de la rúbrica.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Dejar claro que cada uno expone SUS etapas. Las preguntas pueden ser de todo el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Jesús: el histórico no es fraude real. El escenario didáctico está declarado. Objetivo de rúbrica: integración, no estructuras sueltas.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Recorrer el contrato. Destacar que 6 filtra lo que llega a 7 y 8. Etapas 6, 7 y 8 son [FIJA].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Jesús: mostrar deque, validate_batch, seen.sqlite y heapq. El buffer no es el dataset entero. Dedup histórica entre lotes.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Erick: LRU coherente (invalida al escribir). B+ no es un índice SQL: las páginas están en SQLite, la lógica es propia. Complejidad O(log_B n) más el recorrido del rango.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Mentor: no confundir KD (exacto con poda) con HNSW (aproximado, etapa 7). Dimensiones altas: peor poda. Hash de marca/categoría no es embedding semántico.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Mentor: Bloom no tiene FN de insertados. Un positivo Bloom NUNCA bloquea solo. CMS no subestima (salvo overflow). Clave=user_id. Pregunta típica: por qué no bloquear.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Guillermo: LSH recupera candidatos de buckets; HNSW navega capas. No son fuerza bruta disfrazada. user_session no es una orden.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Guillermo: justificar order_id vs user_session. PageRank vs grado. Louvain vs LPA (modularidad y estabilidad).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una recomendación con signals. No vender NDCG. El visor no mide rendimiento.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Ensayar la demo. Si falla la web, usar last_pipeline.json. Detener conserva lotes. No usar tiempos del visor como resultado.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Lectura: aproximado no siempre es más rápido (HNSW se paga en construcción). Bloom ahorra memoria vs set. CMS usa más memoria que Counter en 1K. No inventar aceleraciones.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Honestidad de rúbrica: no inflar escala. Si preguntan 10M, decir recorte y dónde está el 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Referencias si preguntan: Bloom 1970, CMS 2005, Broder 1997, Malkov-Yashunin 2020, Brin-Page 1998, Blondel 2008.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2E9"/>
                </a:solidFill>
                <a:latin typeface="Calibri"/>
              </a:rPr>
              <a:t>ESTRUCTURAS DE DATOS Y ALGORITMOS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EEEEE"/>
                </a:solidFill>
                <a:latin typeface="Calibri"/>
              </a:rPr>
              <a:t>Pipeline de datos para
comercio electrónico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88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D2E9"/>
                </a:solidFill>
                <a:latin typeface="Calibri"/>
              </a:rPr>
              <a:t>Diez etapas integradas · Opción B · exposición por responsable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EEEEE"/>
                </a:solidFill>
                <a:latin typeface="Calibri"/>
              </a:rPr>
              <a:t>Jesús Ricardo Delgado Alvarado
Guillermo Diego Calderón Canchanya
Mentor Alexis Naquiche Ventura
Erik Rogers Poma García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329184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EEEEE"/>
                </a:solidFill>
                <a:latin typeface="Calibri"/>
              </a:rPr>
              <a:t>Docente
Heider Sánchez Enríquez
Lima, Perú · 2026-2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47731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0D2E9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773168"/>
            <a:ext cx="7498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8B5B6"/>
                </a:solidFill>
                <a:latin typeface="Calibri"/>
              </a:rPr>
              <a:t>UTEC · EDA 2026-2 · Pipeline de comercio electrónico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0000" cy="5143500"/>
          </a:xfrm>
          <a:prstGeom prst="rect">
            <a:avLst/>
          </a:prstGeom>
          <a:solidFill>
            <a:srgbClr val="00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89320" y="201168"/>
            <a:ext cx="2788920" cy="384048"/>
          </a:xfrm>
          <a:prstGeom prst="roundRect">
            <a:avLst/>
          </a:prstGeom>
          <a:solidFill>
            <a:srgbClr val="2E2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40" y="237744"/>
            <a:ext cx="2697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EEEEE"/>
                </a:solidFill>
                <a:latin typeface="Calibri"/>
              </a:rPr>
              <a:t>Equipo  ·  Cierre y evidencia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011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4E4B4C"/>
                </a:solidFill>
                <a:latin typeface="Calibri"/>
              </a:rPr>
              <a:t>Orden de la exposición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21792"/>
            <a:ext cx="8138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8A99"/>
                </a:solidFill>
                <a:latin typeface="Calibri"/>
              </a:rPr>
              <a:t>15 min de presentación + demo 3–4 min · nota individual por bloque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1051560"/>
          <a:ext cx="832104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0260"/>
                <a:gridCol w="2080260"/>
                <a:gridCol w="2080260"/>
                <a:gridCol w="2080260"/>
              </a:tblGrid>
              <a:tr h="437605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EEEEEE"/>
                          </a:solidFill>
                          <a:latin typeface="Calibri"/>
                        </a:rPr>
                        <a:t>Bloque</a:t>
                      </a:r>
                    </a:p>
                  </a:txBody>
                  <a:tcPr>
                    <a:solidFill>
                      <a:srgbClr val="2E2C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EEEEEE"/>
                          </a:solidFill>
                          <a:latin typeface="Calibri"/>
                        </a:rPr>
                        <a:t>Etapas</a:t>
                      </a:r>
                    </a:p>
                  </a:txBody>
                  <a:tcPr>
                    <a:solidFill>
                      <a:srgbClr val="2E2C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EEEEEE"/>
                          </a:solidFill>
                          <a:latin typeface="Calibri"/>
                        </a:rPr>
                        <a:t>Expositor</a:t>
                      </a:r>
                    </a:p>
                  </a:txBody>
                  <a:tcPr>
                    <a:solidFill>
                      <a:srgbClr val="2E2C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EEEEEE"/>
                          </a:solidFill>
                          <a:latin typeface="Calibri"/>
                        </a:rPr>
                        <a:t>Qué debe quedar demostrado</a:t>
                      </a:r>
                    </a:p>
                  </a:txBody>
                  <a:tcPr>
                    <a:solidFill>
                      <a:srgbClr val="2E2C2D"/>
                    </a:solidFill>
                  </a:tcPr>
                </a:tc>
              </a:tr>
              <a:tr h="43760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Apertura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Contexto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Jesús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Problema, dataset y flujo 0→9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760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Ingesta</a:t>
                      </a:r>
                    </a:p>
                  </a:txBody>
                  <a:tcPr>
                    <a:solidFill>
                      <a:srgbClr val="F4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0, 1, 2</a:t>
                      </a:r>
                    </a:p>
                  </a:txBody>
                  <a:tcPr>
                    <a:solidFill>
                      <a:srgbClr val="F4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Jesús Delgado</a:t>
                      </a:r>
                    </a:p>
                  </a:txBody>
                  <a:tcPr>
                    <a:solidFill>
                      <a:srgbClr val="F4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FIFO, limpieza/dedup y heap de urgencia</a:t>
                      </a:r>
                    </a:p>
                  </a:txBody>
                  <a:tcPr>
                    <a:solidFill>
                      <a:srgbClr val="F4F3F3"/>
                    </a:solidFill>
                  </a:tcPr>
                </a:tc>
              </a:tr>
              <a:tr h="43760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Índice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3, 4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Erik Poma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Hash + LRU + SQLite y B+ de precios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760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Espacio y riesgo</a:t>
                      </a:r>
                    </a:p>
                  </a:txBody>
                  <a:tcPr>
                    <a:solidFill>
                      <a:srgbClr val="F4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5, 6 [FIJA]</a:t>
                      </a:r>
                    </a:p>
                  </a:txBody>
                  <a:tcPr>
                    <a:solidFill>
                      <a:srgbClr val="F4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Mentor Naquiche</a:t>
                      </a:r>
                    </a:p>
                  </a:txBody>
                  <a:tcPr>
                    <a:solidFill>
                      <a:srgbClr val="F4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KD vs exacto; Bloom, CMS y ventana</a:t>
                      </a:r>
                    </a:p>
                  </a:txBody>
                  <a:tcPr>
                    <a:solidFill>
                      <a:srgbClr val="F4F3F3"/>
                    </a:solidFill>
                  </a:tcPr>
                </a:tc>
              </a:tr>
              <a:tr h="43760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Similitud y servicio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7–9 [FIJA]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Guillermo Calderón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LSH/HNSW, grafo, Trie/Top-K y demo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761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Evidencia</a:t>
                      </a:r>
                    </a:p>
                  </a:txBody>
                  <a:tcPr>
                    <a:solidFill>
                      <a:srgbClr val="F4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Grupo</a:t>
                      </a:r>
                    </a:p>
                  </a:txBody>
                  <a:tcPr>
                    <a:solidFill>
                      <a:srgbClr val="F4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Equipo</a:t>
                      </a:r>
                    </a:p>
                  </a:txBody>
                  <a:tcPr>
                    <a:solidFill>
                      <a:srgbClr val="F4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1K × 100 reps, límites 10K–10M</a:t>
                      </a:r>
                    </a:p>
                  </a:txBody>
                  <a:tcPr>
                    <a:solidFill>
                      <a:srgbClr val="F4F3F3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138160" y="47731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E4B4C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4773168"/>
            <a:ext cx="7498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4B4C"/>
                </a:solidFill>
                <a:latin typeface="Calibri"/>
              </a:rPr>
              <a:t>UTEC · EDA 2026-2 · Pipeline de comercio electrónico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0000" cy="5143500"/>
          </a:xfrm>
          <a:prstGeom prst="rect">
            <a:avLst/>
          </a:prstGeom>
          <a:solidFill>
            <a:srgbClr val="00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89320" y="201168"/>
            <a:ext cx="2788920" cy="384048"/>
          </a:xfrm>
          <a:prstGeom prst="roundRect">
            <a:avLst/>
          </a:prstGeom>
          <a:solidFill>
            <a:srgbClr val="2E2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40" y="237744"/>
            <a:ext cx="2697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EEEEE"/>
                </a:solidFill>
                <a:latin typeface="Calibri"/>
              </a:rPr>
              <a:t>Jesús Delgado  ·  Etapas 0–2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011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4E4B4C"/>
                </a:solidFill>
                <a:latin typeface="Calibri"/>
              </a:rPr>
              <a:t>Contexto: stream de comercio electrónico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21792"/>
            <a:ext cx="8138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8A99"/>
                </a:solidFill>
                <a:latin typeface="Calibri"/>
              </a:rPr>
              <a:t>Rúbrica Opción B · dataset Kaggle REES46 · histórico como stream finito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051560"/>
            <a:ext cx="402336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709160" y="1051560"/>
            <a:ext cx="402336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188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E4B4C"/>
                </a:solidFill>
                <a:latin typeface="Calibri"/>
              </a:rPr>
              <a:t>Qué entra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00200"/>
            <a:ext cx="3657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4E4B4C"/>
                </a:solidFill>
                <a:latin typeface="Calibri"/>
              </a:rPr>
              <a:t>Eventos view / cart / purchase de 2019.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4E4B4C"/>
                </a:solidFill>
                <a:latin typeface="Calibri"/>
              </a:rPr>
              <a:t>Campos: tiempo, tipo, producto, usuario, precio.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4E4B4C"/>
                </a:solidFill>
                <a:latin typeface="Calibri"/>
              </a:rPr>
              <a:t>Cortes 1K … 10M en Parquet por lotes.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4E4B4C"/>
                </a:solidFill>
                <a:latin typeface="Calibri"/>
              </a:rPr>
              <a:t>Ocho eventos SIMULADOS aparte (órdenes y una cuenta repetida).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4E4B4C"/>
                </a:solidFill>
                <a:latin typeface="Calibri"/>
              </a:rPr>
              <a:t>No hay fraude etiquetado ni order_id en el CSV original.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1188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E4B4C"/>
                </a:solidFill>
                <a:latin typeface="Calibri"/>
              </a:rPr>
              <a:t>Qué debe salir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1600200"/>
            <a:ext cx="3657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4E4B4C"/>
                </a:solidFill>
                <a:latin typeface="Calibri"/>
              </a:rPr>
              <a:t>Evento que atraviesa las 10 etapas.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4E4B4C"/>
                </a:solidFill>
                <a:latin typeface="Calibri"/>
              </a:rPr>
              <a:t>Alertas de revisión, no bloqueo automático.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4E4B4C"/>
                </a:solidFill>
                <a:latin typeface="Calibri"/>
              </a:rPr>
              <a:t>Recomendaciones con señales explicadas.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4E4B4C"/>
                </a:solidFill>
                <a:latin typeface="Calibri"/>
              </a:rPr>
              <a:t>Consultas de rango, prefijo y Top-K.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4E4B4C"/>
                </a:solidFill>
                <a:latin typeface="Calibri"/>
              </a:rPr>
              <a:t>Cada etapa consume la salida de la anterior.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47731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E4B4C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773168"/>
            <a:ext cx="7498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4B4C"/>
                </a:solidFill>
                <a:latin typeface="Calibri"/>
              </a:rPr>
              <a:t>UTEC · EDA 2026-2 · Pipeline de comercio electrónico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89320" y="201168"/>
            <a:ext cx="2788920" cy="384048"/>
          </a:xfrm>
          <a:prstGeom prst="roundRect">
            <a:avLst/>
          </a:prstGeom>
          <a:solidFill>
            <a:srgbClr val="2E2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0" y="237744"/>
            <a:ext cx="2697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EEEEE"/>
                </a:solidFill>
                <a:latin typeface="Calibri"/>
              </a:rPr>
              <a:t>Jesús Delgado  ·  Etapas 0–2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EEEEE"/>
                </a:solidFill>
                <a:latin typeface="Calibri"/>
              </a:rPr>
              <a:t>Arquitectura 0–9 y quién la expone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8138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D2E9"/>
                </a:solidFill>
                <a:latin typeface="Calibri"/>
              </a:rPr>
              <a:t>La salida de una etapa es entrada real de la siguiente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" y="1417320"/>
            <a:ext cx="822960" cy="1417320"/>
          </a:xfrm>
          <a:prstGeom prst="roundRect">
            <a:avLst/>
          </a:prstGeom>
          <a:solidFill>
            <a:srgbClr val="008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149047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EEEEE"/>
                </a:solidFill>
                <a:latin typeface="Calibri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178308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EEEEE"/>
                </a:solidFill>
                <a:latin typeface="Calibri"/>
              </a:rPr>
              <a:t>FIFO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" y="244144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D2E9"/>
                </a:solidFill>
                <a:latin typeface="Calibri"/>
              </a:rPr>
              <a:t>Jesús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078992" y="2011680"/>
            <a:ext cx="64008" cy="164592"/>
          </a:xfrm>
          <a:prstGeom prst="rightArrow">
            <a:avLst/>
          </a:prstGeom>
          <a:solidFill>
            <a:srgbClr val="00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43000" y="1417320"/>
            <a:ext cx="822960" cy="1417320"/>
          </a:xfrm>
          <a:prstGeom prst="roundRect">
            <a:avLst/>
          </a:prstGeom>
          <a:solidFill>
            <a:srgbClr val="008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149047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EEEEE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178308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EEEEE"/>
                </a:solidFill>
                <a:latin typeface="Calibri"/>
              </a:rPr>
              <a:t>Validar
Timsort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44144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D2E9"/>
                </a:solidFill>
                <a:latin typeface="Calibri"/>
              </a:rPr>
              <a:t>Jesús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1965960" y="2011680"/>
            <a:ext cx="64008" cy="164592"/>
          </a:xfrm>
          <a:prstGeom prst="rightArrow">
            <a:avLst/>
          </a:prstGeom>
          <a:solidFill>
            <a:srgbClr val="00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029967" y="1417320"/>
            <a:ext cx="822960" cy="1417320"/>
          </a:xfrm>
          <a:prstGeom prst="roundRect">
            <a:avLst/>
          </a:prstGeom>
          <a:solidFill>
            <a:srgbClr val="008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29967" y="149047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EEEEE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29967" y="178308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EEEEE"/>
                </a:solidFill>
                <a:latin typeface="Calibri"/>
              </a:rPr>
              <a:t>Heap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29967" y="244144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D2E9"/>
                </a:solidFill>
                <a:latin typeface="Calibri"/>
              </a:rPr>
              <a:t>Jesús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852927" y="2011680"/>
            <a:ext cx="64008" cy="164592"/>
          </a:xfrm>
          <a:prstGeom prst="rightArrow">
            <a:avLst/>
          </a:prstGeom>
          <a:solidFill>
            <a:srgbClr val="00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916936" y="1417320"/>
            <a:ext cx="822960" cy="1417320"/>
          </a:xfrm>
          <a:prstGeom prst="roundRect">
            <a:avLst/>
          </a:prstGeom>
          <a:solidFill>
            <a:srgbClr val="3D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16936" y="149047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EEEEE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16936" y="178308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EEEEE"/>
                </a:solidFill>
                <a:latin typeface="Calibri"/>
              </a:rPr>
              <a:t>Hash
LRU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16936" y="244144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D2E9"/>
                </a:solidFill>
                <a:latin typeface="Calibri"/>
              </a:rPr>
              <a:t>Erik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3739896" y="2011680"/>
            <a:ext cx="64008" cy="164592"/>
          </a:xfrm>
          <a:prstGeom prst="rightArrow">
            <a:avLst/>
          </a:prstGeom>
          <a:solidFill>
            <a:srgbClr val="00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803904" y="1417320"/>
            <a:ext cx="822960" cy="1417320"/>
          </a:xfrm>
          <a:prstGeom prst="roundRect">
            <a:avLst/>
          </a:prstGeom>
          <a:solidFill>
            <a:srgbClr val="3D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03904" y="149047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EEEEE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03904" y="178308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EEEEE"/>
                </a:solidFill>
                <a:latin typeface="Calibri"/>
              </a:rPr>
              <a:t>B+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03904" y="244144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D2E9"/>
                </a:solidFill>
                <a:latin typeface="Calibri"/>
              </a:rPr>
              <a:t>Erik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4626864" y="2011680"/>
            <a:ext cx="64008" cy="164592"/>
          </a:xfrm>
          <a:prstGeom prst="rightArrow">
            <a:avLst/>
          </a:prstGeom>
          <a:solidFill>
            <a:srgbClr val="00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690872" y="1417320"/>
            <a:ext cx="822960" cy="1417320"/>
          </a:xfrm>
          <a:prstGeom prst="roundRect">
            <a:avLst/>
          </a:prstGeom>
          <a:solidFill>
            <a:srgbClr val="6B4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90872" y="149047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EEEEE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90872" y="178308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EEEEE"/>
                </a:solidFill>
                <a:latin typeface="Calibri"/>
              </a:rPr>
              <a:t>KD-Tree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90872" y="244144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D2E9"/>
                </a:solidFill>
                <a:latin typeface="Calibri"/>
              </a:rPr>
              <a:t>Mentor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5513832" y="2011680"/>
            <a:ext cx="64008" cy="164592"/>
          </a:xfrm>
          <a:prstGeom prst="rightArrow">
            <a:avLst/>
          </a:prstGeom>
          <a:solidFill>
            <a:srgbClr val="00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577840" y="1417320"/>
            <a:ext cx="822960" cy="1417320"/>
          </a:xfrm>
          <a:prstGeom prst="roundRect">
            <a:avLst/>
          </a:prstGeom>
          <a:solidFill>
            <a:srgbClr val="6B4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77840" y="149047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EEEEE"/>
                </a:solidFill>
                <a:latin typeface="Calibri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77840" y="178308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EEEEE"/>
                </a:solidFill>
                <a:latin typeface="Calibri"/>
              </a:rPr>
              <a:t>Bloom
CMS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77840" y="244144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D2E9"/>
                </a:solidFill>
                <a:latin typeface="Calibri"/>
              </a:rPr>
              <a:t>Mentor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6400800" y="2011680"/>
            <a:ext cx="64008" cy="164592"/>
          </a:xfrm>
          <a:prstGeom prst="rightArrow">
            <a:avLst/>
          </a:prstGeom>
          <a:solidFill>
            <a:srgbClr val="00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464808" y="1417320"/>
            <a:ext cx="822960" cy="1417320"/>
          </a:xfrm>
          <a:prstGeom prst="roundRect">
            <a:avLst/>
          </a:prstGeom>
          <a:solidFill>
            <a:srgbClr val="7A5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64808" y="149047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EEEEE"/>
                </a:solidFill>
                <a:latin typeface="Calibri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64808" y="178308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EEEEE"/>
                </a:solidFill>
                <a:latin typeface="Calibri"/>
              </a:rPr>
              <a:t>LSH
HNSW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64808" y="244144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D2E9"/>
                </a:solidFill>
                <a:latin typeface="Calibri"/>
              </a:rPr>
              <a:t>Guille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7287768" y="2011680"/>
            <a:ext cx="64008" cy="164592"/>
          </a:xfrm>
          <a:prstGeom prst="rightArrow">
            <a:avLst/>
          </a:prstGeom>
          <a:solidFill>
            <a:srgbClr val="00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7351775" y="1417320"/>
            <a:ext cx="822960" cy="1417320"/>
          </a:xfrm>
          <a:prstGeom prst="roundRect">
            <a:avLst/>
          </a:prstGeom>
          <a:solidFill>
            <a:srgbClr val="7A5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51775" y="149047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EEEEE"/>
                </a:solidFill>
                <a:latin typeface="Calibri"/>
              </a:rPr>
              <a:t>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51775" y="178308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EEEEE"/>
                </a:solidFill>
                <a:latin typeface="Calibri"/>
              </a:rPr>
              <a:t>Grafo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51775" y="244144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D2E9"/>
                </a:solidFill>
                <a:latin typeface="Calibri"/>
              </a:rPr>
              <a:t>Guille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8174735" y="2011680"/>
            <a:ext cx="64008" cy="164592"/>
          </a:xfrm>
          <a:prstGeom prst="rightArrow">
            <a:avLst/>
          </a:prstGeom>
          <a:solidFill>
            <a:srgbClr val="00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8238744" y="1417320"/>
            <a:ext cx="822960" cy="1417320"/>
          </a:xfrm>
          <a:prstGeom prst="roundRect">
            <a:avLst/>
          </a:prstGeom>
          <a:solidFill>
            <a:srgbClr val="7A5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38744" y="149047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EEEEE"/>
                </a:solidFill>
                <a:latin typeface="Calibri"/>
              </a:rPr>
              <a:t>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38744" y="178308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EEEEE"/>
                </a:solidFill>
                <a:latin typeface="Calibri"/>
              </a:rPr>
              <a:t>Trie
Top-K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38744" y="244144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D2E9"/>
                </a:solidFill>
                <a:latin typeface="Calibri"/>
              </a:rPr>
              <a:t>Guille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1480" y="3063240"/>
            <a:ext cx="8321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EEEEE"/>
                </a:solidFill>
                <a:latin typeface="Calibri"/>
              </a:rPr>
              <a:t>Contrato: 0 entrega el lote → 1 limpia → 2 ordena por urgencia → 3 persiste el evento → 4 indexa precio del catálogo → 5 vecinos exactos → 6 acepta o marca revisión → 7/8 solo eventos aceptados → 9 ranking, consultas y alertas.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38160" y="47731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0D2E9"/>
                </a:solidFill>
                <a:latin typeface="Calibri"/>
              </a:rPr>
              <a:t>04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1480" y="4773168"/>
            <a:ext cx="7498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8B5B6"/>
                </a:solidFill>
                <a:latin typeface="Calibri"/>
              </a:rPr>
              <a:t>UTEC · EDA 2026-2 · Pipeline de comercio electrónico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0000" cy="5143500"/>
          </a:xfrm>
          <a:prstGeom prst="rect">
            <a:avLst/>
          </a:prstGeom>
          <a:solidFill>
            <a:srgbClr val="00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89320" y="201168"/>
            <a:ext cx="2788920" cy="384048"/>
          </a:xfrm>
          <a:prstGeom prst="roundRect">
            <a:avLst/>
          </a:prstGeom>
          <a:solidFill>
            <a:srgbClr val="2E2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40" y="237744"/>
            <a:ext cx="2697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EEEEE"/>
                </a:solidFill>
                <a:latin typeface="Calibri"/>
              </a:rPr>
              <a:t>Jesús Delgado  ·  Etapas 0–2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011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4E4B4C"/>
                </a:solidFill>
                <a:latin typeface="Calibri"/>
              </a:rPr>
              <a:t>Etapas 0–2 · ingesta, limpieza y prioridad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21792"/>
            <a:ext cx="8138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8A99"/>
                </a:solidFill>
                <a:latin typeface="Calibri"/>
              </a:rPr>
              <a:t>Estructuras S1–S3 de la rúbrica · lote b, no el archivo completo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1051560"/>
          <a:ext cx="83210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0260"/>
                <a:gridCol w="2080260"/>
                <a:gridCol w="2080260"/>
                <a:gridCol w="2080260"/>
              </a:tblGrid>
              <a:tr h="72009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EEEEEE"/>
                          </a:solidFill>
                          <a:latin typeface="Calibri"/>
                        </a:rPr>
                        <a:t>Etapa</a:t>
                      </a:r>
                    </a:p>
                  </a:txBody>
                  <a:tcPr>
                    <a:solidFill>
                      <a:srgbClr val="2E2C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EEEEEE"/>
                          </a:solidFill>
                          <a:latin typeface="Calibri"/>
                        </a:rPr>
                        <a:t>Estructura</a:t>
                      </a:r>
                    </a:p>
                  </a:txBody>
                  <a:tcPr>
                    <a:solidFill>
                      <a:srgbClr val="2E2C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EEEEEE"/>
                          </a:solidFill>
                          <a:latin typeface="Calibri"/>
                        </a:rPr>
                        <a:t>Qué hace en el código</a:t>
                      </a:r>
                    </a:p>
                  </a:txBody>
                  <a:tcPr>
                    <a:solidFill>
                      <a:srgbClr val="2E2C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EEEEEE"/>
                          </a:solidFill>
                          <a:latin typeface="Calibri"/>
                        </a:rPr>
                        <a:t>Costo</a:t>
                      </a:r>
                    </a:p>
                  </a:txBody>
                  <a:tcPr>
                    <a:solidFill>
                      <a:srgbClr val="2E2C2D"/>
                    </a:solidFill>
                  </a:tcPr>
                </a:tc>
              </a:tr>
              <a:tr h="72009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deque FIFO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Encola el microlote y se vacía al consumirlo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O(1) enqueue/dequeue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2009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4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sort + bisect + SQLite</a:t>
                      </a:r>
                    </a:p>
                  </a:txBody>
                  <a:tcPr>
                    <a:solidFill>
                      <a:srgbClr val="F4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Valida campos, UTC, precio; deduplica entre lotes</a:t>
                      </a:r>
                    </a:p>
                  </a:txBody>
                  <a:tcPr>
                    <a:solidFill>
                      <a:srgbClr val="F4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O(b log b) ordenar el lote</a:t>
                      </a:r>
                    </a:p>
                  </a:txBody>
                  <a:tcPr>
                    <a:solidFill>
                      <a:srgbClr val="F4F3F3"/>
                    </a:solidFill>
                  </a:tcPr>
                </a:tc>
              </a:tr>
              <a:tr h="72009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min-heap estable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Prioridad, fecha y contador de llegada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O(log b) push/pop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11480" y="4069080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E4B4C"/>
                </a:solidFill>
                <a:latin typeface="Calibri"/>
              </a:rPr>
              <a:t>Prioridad: alerta de pago (0) → compra/reembolso por urgencia → cart → search/review → view. FIFO y heap no conservan el histórico; SQLite de IDs vistos sí.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47731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E4B4C"/>
                </a:solidFill>
                <a:latin typeface="Calibri"/>
              </a:rPr>
              <a:t>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773168"/>
            <a:ext cx="7498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4B4C"/>
                </a:solidFill>
                <a:latin typeface="Calibri"/>
              </a:rPr>
              <a:t>UTEC · EDA 2026-2 · Pipeline de comercio electrónico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0000" cy="5143500"/>
          </a:xfrm>
          <a:prstGeom prst="rect">
            <a:avLst/>
          </a:prstGeom>
          <a:solidFill>
            <a:srgbClr val="00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89320" y="201168"/>
            <a:ext cx="2788920" cy="384048"/>
          </a:xfrm>
          <a:prstGeom prst="roundRect">
            <a:avLst/>
          </a:prstGeom>
          <a:solidFill>
            <a:srgbClr val="2E2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40" y="237744"/>
            <a:ext cx="2697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EEEEE"/>
                </a:solidFill>
                <a:latin typeface="Calibri"/>
              </a:rPr>
              <a:t>Erik Poma  ·  Etapas 3–4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011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4E4B4C"/>
                </a:solidFill>
                <a:latin typeface="Calibri"/>
              </a:rPr>
              <a:t>Etapas 3–4 · persistencia e índice de precio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21792"/>
            <a:ext cx="8138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8A99"/>
                </a:solidFill>
                <a:latin typeface="Calibri"/>
              </a:rPr>
              <a:t>S4 hash/LRU · S5 B+ propio en disco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051560"/>
            <a:ext cx="402336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709160" y="1051560"/>
            <a:ext cx="402336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E4B4C"/>
                </a:solidFill>
                <a:latin typeface="Calibri"/>
              </a:rPr>
              <a:t>3  Hash + LRU + SQLite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45920"/>
            <a:ext cx="3657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4E4B4C"/>
                </a:solidFill>
                <a:latin typeface="Calibri"/>
              </a:rPr>
              <a:t>put_storage escribe el evento y anula caché vieja.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4E4B4C"/>
                </a:solidFill>
                <a:latin typeface="Calibri"/>
              </a:rPr>
              <a:t>get_from_cache_or_storage: HIT / MISS / NOT_FOUND.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4E4B4C"/>
                </a:solidFill>
                <a:latin typeface="Calibri"/>
              </a:rPr>
              <a:t>LRU acotada (100 en el pipeline).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4E4B4C"/>
                </a:solidFill>
                <a:latin typeface="Calibri"/>
              </a:rPr>
              <a:t>events.sqlite es la fuente persistente.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4E4B4C"/>
                </a:solidFill>
                <a:latin typeface="Calibri"/>
              </a:rPr>
              <a:t>La etapa 4 lee el evento ya guardado.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E4B4C"/>
                </a:solidFill>
                <a:latin typeface="Calibri"/>
              </a:rPr>
              <a:t>4  B+Tree propio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1645920"/>
            <a:ext cx="3657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4E4B4C"/>
                </a:solidFill>
                <a:latin typeface="Calibri"/>
              </a:rPr>
              <a:t>Clave (precio, product_id).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4E4B4C"/>
                </a:solidFill>
                <a:latin typeface="Calibri"/>
              </a:rPr>
              <a:t>SQLite guarda páginas; el árbol parte y busca.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4E4B4C"/>
                </a:solidFill>
                <a:latin typeface="Calibri"/>
              </a:rPr>
              <a:t>Hojas enlazadas → range_search inclusivo.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4E4B4C"/>
                </a:solidFill>
                <a:latin typeface="Calibri"/>
              </a:rPr>
              <a:t>Catálogo: primer precio observado.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4E4B4C"/>
                </a:solidFill>
                <a:latin typeface="Calibri"/>
              </a:rPr>
              <a:t>Rango típico: 50 %–150 % del precio query.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47731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E4B4C"/>
                </a:solidFill>
                <a:latin typeface="Calibri"/>
              </a:rP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773168"/>
            <a:ext cx="7498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4B4C"/>
                </a:solidFill>
                <a:latin typeface="Calibri"/>
              </a:rPr>
              <a:t>UTEC · EDA 2026-2 · Pipeline de comercio electrónico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0000" cy="5143500"/>
          </a:xfrm>
          <a:prstGeom prst="rect">
            <a:avLst/>
          </a:prstGeom>
          <a:solidFill>
            <a:srgbClr val="00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89320" y="201168"/>
            <a:ext cx="2788920" cy="384048"/>
          </a:xfrm>
          <a:prstGeom prst="roundRect">
            <a:avLst/>
          </a:prstGeom>
          <a:solidFill>
            <a:srgbClr val="2E2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40" y="237744"/>
            <a:ext cx="2697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EEEEE"/>
                </a:solidFill>
                <a:latin typeface="Calibri"/>
              </a:rPr>
              <a:t>Mentor Naquiche  ·  Etapas 5–6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011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4E4B4C"/>
                </a:solidFill>
                <a:latin typeface="Calibri"/>
              </a:rPr>
              <a:t>Etapa 5 · KD-Tree y KNN exacto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21792"/>
            <a:ext cx="8138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8A99"/>
                </a:solidFill>
                <a:latin typeface="Calibri"/>
              </a:rPr>
              <a:t>S6 · misma distancia y mismos IDs que la línea base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051560"/>
            <a:ext cx="402336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709160" y="1051560"/>
            <a:ext cx="402336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E4B4C"/>
                </a:solidFill>
                <a:latin typeface="Calibri"/>
              </a:rPr>
              <a:t>Qué indexa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45920"/>
            <a:ext cx="3657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4E4B4C"/>
                </a:solidFill>
                <a:latin typeface="Calibri"/>
              </a:rPr>
              <a:t>Vector de 17 dimensiones por producto: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4E4B4C"/>
                </a:solidFill>
                <a:latin typeface="Calibri"/>
              </a:rPr>
              <a:t>precio log-normalizado, 8 buckets de categoría,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4E4B4C"/>
                </a:solidFill>
                <a:latin typeface="Calibri"/>
              </a:rPr>
              <a:t>8 buckets de marca (hash, puede colisionar).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4E4B4C"/>
                </a:solidFill>
                <a:latin typeface="Calibri"/>
              </a:rPr>
              <a:t>Se reconstruye con el catálogo del lote.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4E4B4C"/>
                </a:solidFill>
                <a:latin typeface="Calibri"/>
              </a:rPr>
              <a:t>Excluye el propio product_id en la consulta.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E4B4C"/>
                </a:solidFill>
                <a:latin typeface="Calibri"/>
              </a:rPr>
              <a:t>Exactitud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1645920"/>
            <a:ext cx="3657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4E4B4C"/>
                </a:solidFill>
                <a:latin typeface="Calibri"/>
              </a:rPr>
              <a:t>query() poda ramas; es KNN exacto del árbol.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4E4B4C"/>
                </a:solidFill>
                <a:latin typeface="Calibri"/>
              </a:rPr>
              <a:t>knn_exact_baseline recorre todos los puntos.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4E4B4C"/>
                </a:solidFill>
                <a:latin typeface="Calibri"/>
              </a:rPr>
              <a:t>El pipeline compara kd_coincide = (KD == exacto).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4E4B4C"/>
                </a:solidFill>
                <a:latin typeface="Calibri"/>
              </a:rPr>
              <a:t>En alta dimensión la poda pierde fuerza.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4E4B4C"/>
                </a:solidFill>
                <a:latin typeface="Calibri"/>
              </a:rPr>
              <a:t>Los vecinos alimentan el ranking de la etapa 9.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47731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E4B4C"/>
                </a:solidFill>
                <a:latin typeface="Calibri"/>
              </a:rPr>
              <a:t>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773168"/>
            <a:ext cx="7498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4B4C"/>
                </a:solidFill>
                <a:latin typeface="Calibri"/>
              </a:rPr>
              <a:t>UTEC · EDA 2026-2 · Pipeline de comercio electrónico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0000" cy="5143500"/>
          </a:xfrm>
          <a:prstGeom prst="rect">
            <a:avLst/>
          </a:prstGeom>
          <a:solidFill>
            <a:srgbClr val="00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89320" y="201168"/>
            <a:ext cx="2788920" cy="384048"/>
          </a:xfrm>
          <a:prstGeom prst="roundRect">
            <a:avLst/>
          </a:prstGeom>
          <a:solidFill>
            <a:srgbClr val="2E2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40" y="237744"/>
            <a:ext cx="2697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EEEEE"/>
                </a:solidFill>
                <a:latin typeface="Calibri"/>
              </a:rPr>
              <a:t>Mentor Naquiche  ·  Etapas 5–6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011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4E4B4C"/>
                </a:solidFill>
                <a:latin typeface="Calibri"/>
              </a:rPr>
              <a:t>Etapa 6 [FIJA] · Bloom, CMS y ventana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21792"/>
            <a:ext cx="8138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8A99"/>
                </a:solidFill>
                <a:latin typeface="Calibri"/>
              </a:rPr>
              <a:t>Alerta = revisar. Solo eventos aceptados siguen a 7 y 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1051560"/>
          <a:ext cx="832104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0260"/>
                <a:gridCol w="2080260"/>
                <a:gridCol w="2080260"/>
                <a:gridCol w="2080260"/>
              </a:tblGrid>
              <a:tr h="58293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EEEEEE"/>
                          </a:solidFill>
                          <a:latin typeface="Calibri"/>
                        </a:rPr>
                        <a:t>Pieza</a:t>
                      </a:r>
                    </a:p>
                  </a:txBody>
                  <a:tcPr>
                    <a:solidFill>
                      <a:srgbClr val="2E2C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EEEEEE"/>
                          </a:solidFill>
                          <a:latin typeface="Calibri"/>
                        </a:rPr>
                        <a:t>Rol</a:t>
                      </a:r>
                    </a:p>
                  </a:txBody>
                  <a:tcPr>
                    <a:solidFill>
                      <a:srgbClr val="2E2C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EEEEEE"/>
                          </a:solidFill>
                          <a:latin typeface="Calibri"/>
                        </a:rPr>
                        <a:t>Límite</a:t>
                      </a:r>
                    </a:p>
                  </a:txBody>
                  <a:tcPr>
                    <a:solidFill>
                      <a:srgbClr val="2E2C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EEEEEE"/>
                          </a:solidFill>
                          <a:latin typeface="Calibri"/>
                        </a:rPr>
                        <a:t>Control exacto</a:t>
                      </a:r>
                    </a:p>
                  </a:txBody>
                  <a:tcPr>
                    <a:solidFill>
                      <a:srgbClr val="2E2C2D"/>
                    </a:solidFill>
                  </a:tcPr>
                </a:tc>
              </a:tr>
              <a:tr h="58293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Bloom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¿cuenta posiblemente señalada?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Falsos positivos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Conjunto flagged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CMS</a:t>
                      </a:r>
                    </a:p>
                  </a:txBody>
                  <a:tcPr>
                    <a:solidFill>
                      <a:srgbClr val="F4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Estima intentos en la ventana</a:t>
                      </a:r>
                    </a:p>
                  </a:txBody>
                  <a:tcPr>
                    <a:solidFill>
                      <a:srgbClr val="F4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Puede sobreestimar</a:t>
                      </a:r>
                    </a:p>
                  </a:txBody>
                  <a:tcPr>
                    <a:solidFill>
                      <a:srgbClr val="F4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Counter exacto</a:t>
                      </a:r>
                    </a:p>
                  </a:txBody>
                  <a:tcPr>
                    <a:solidFill>
                      <a:srgbClr val="F4F3F3"/>
                    </a:solidFill>
                  </a:tcPr>
                </a:tc>
              </a:tr>
              <a:tr h="58293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Ventana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user_id, 300 s, umbral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Eventos tardíos fuera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Heap + marca de agua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11480" y="3520440"/>
            <a:ext cx="8321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E4B4C"/>
                </a:solidFill>
                <a:latin typeface="Calibri"/>
              </a:rPr>
              <a:t>Demo 1K: 1.008 eventos, 2 alertas de revisión (cuenta simulada). 1K×100: Bloom FP 0,600 %; CMS error abs. medio 0,002976. Reconstruir CMS al caducar no es O(1).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47731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E4B4C"/>
                </a:solidFill>
                <a:latin typeface="Calibri"/>
              </a:rPr>
              <a:t>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773168"/>
            <a:ext cx="7498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4B4C"/>
                </a:solidFill>
                <a:latin typeface="Calibri"/>
              </a:rPr>
              <a:t>UTEC · EDA 2026-2 · Pipeline de comercio electrónico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0000" cy="5143500"/>
          </a:xfrm>
          <a:prstGeom prst="rect">
            <a:avLst/>
          </a:prstGeom>
          <a:solidFill>
            <a:srgbClr val="00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89320" y="201168"/>
            <a:ext cx="2788920" cy="384048"/>
          </a:xfrm>
          <a:prstGeom prst="roundRect">
            <a:avLst/>
          </a:prstGeom>
          <a:solidFill>
            <a:srgbClr val="2E2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40" y="237744"/>
            <a:ext cx="2697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EEEEE"/>
                </a:solidFill>
                <a:latin typeface="Calibri"/>
              </a:rPr>
              <a:t>Guillermo Calderón  ·  Etapas 7–9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011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4E4B4C"/>
                </a:solidFill>
                <a:latin typeface="Calibri"/>
              </a:rPr>
              <a:t>Etapa 7 [FIJA] · MinHash+LSH y HNSW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21792"/>
            <a:ext cx="8138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8A99"/>
                </a:solidFill>
                <a:latin typeface="Calibri"/>
              </a:rPr>
              <a:t>Familias de conjuntos y ANN · controles exactos aparte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051560"/>
            <a:ext cx="402336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709160" y="1051560"/>
            <a:ext cx="402336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E4B4C"/>
                </a:solidFill>
                <a:latin typeface="Calibri"/>
              </a:rPr>
              <a:t>Canastas · MinHash + LSH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45920"/>
            <a:ext cx="3657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4E4B4C"/>
                </a:solidFill>
                <a:latin typeface="Calibri"/>
              </a:rPr>
              <a:t>Firma: 64 mínimos; 16 bandas × 4 filas.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4E4B4C"/>
                </a:solidFill>
                <a:latin typeface="Calibri"/>
              </a:rPr>
              <a:t>Inserta compras aceptadas por usuario.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4E4B4C"/>
                </a:solidFill>
                <a:latin typeface="Calibri"/>
              </a:rPr>
              <a:t>Límite: 10.000 canastas (LRU de usuarios).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4E4B4C"/>
                </a:solidFill>
                <a:latin typeface="Calibri"/>
              </a:rPr>
              <a:t>Control: Jaccard exacto.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4E4B4C"/>
                </a:solidFill>
                <a:latin typeface="Calibri"/>
              </a:rPr>
              <a:t>1K: 307 conjuntos, recall=1, precisión=1.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E4B4C"/>
                </a:solidFill>
                <a:latin typeface="Calibri"/>
              </a:rPr>
              <a:t>Vectores · HNSW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1645920"/>
            <a:ext cx="3657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4E4B4C"/>
                </a:solidFill>
                <a:latin typeface="Calibri"/>
              </a:rPr>
              <a:t>Grafo multicapa propio (no envoltorio).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4E4B4C"/>
                </a:solidFill>
                <a:latin typeface="Calibri"/>
              </a:rPr>
              <a:t>M=8, ef_search=32, 17 dimensiones.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4E4B4C"/>
                </a:solidFill>
                <a:latin typeface="Calibri"/>
              </a:rPr>
              <a:t>Control: KNN exacto sobre los mismos vectores.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4E4B4C"/>
                </a:solidFill>
                <a:latin typeface="Calibri"/>
              </a:rPr>
              <a:t>1K: 672 productos, Recall@5 = 1,000.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4E4B4C"/>
                </a:solidFill>
                <a:latin typeface="Calibri"/>
              </a:rPr>
              <a:t>Construcción 1.423 ± 41 ms (hay que reutilizar).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47731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E4B4C"/>
                </a:solidFill>
                <a:latin typeface="Calibri"/>
              </a:rPr>
              <a:t>09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773168"/>
            <a:ext cx="7498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4B4C"/>
                </a:solidFill>
                <a:latin typeface="Calibri"/>
              </a:rPr>
              <a:t>UTEC · EDA 2026-2 · Pipeline de comercio electrónico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0000" cy="5143500"/>
          </a:xfrm>
          <a:prstGeom prst="rect">
            <a:avLst/>
          </a:prstGeom>
          <a:solidFill>
            <a:srgbClr val="00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89320" y="201168"/>
            <a:ext cx="2788920" cy="384048"/>
          </a:xfrm>
          <a:prstGeom prst="roundRect">
            <a:avLst/>
          </a:prstGeom>
          <a:solidFill>
            <a:srgbClr val="2E2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40" y="237744"/>
            <a:ext cx="2697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EEEEE"/>
                </a:solidFill>
                <a:latin typeface="Calibri"/>
              </a:rPr>
              <a:t>Guillermo Calderón  ·  Etapas 7–9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011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4E4B4C"/>
                </a:solidFill>
                <a:latin typeface="Calibri"/>
              </a:rPr>
              <a:t>Etapa 8 [FIJA] · co-compra, PageRank y Louvain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21792"/>
            <a:ext cx="8138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8A99"/>
                </a:solidFill>
                <a:latin typeface="Calibri"/>
              </a:rPr>
              <a:t>Nodo = producto · arista = pareja dentro de la misma order_id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1051560"/>
          <a:ext cx="832104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0260"/>
                <a:gridCol w="2080260"/>
                <a:gridCol w="2080260"/>
                <a:gridCol w="2080260"/>
              </a:tblGrid>
              <a:tr h="6172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EEEEEE"/>
                          </a:solidFill>
                          <a:latin typeface="Calibri"/>
                        </a:rPr>
                        <a:t>Método</a:t>
                      </a:r>
                    </a:p>
                  </a:txBody>
                  <a:tcPr>
                    <a:solidFill>
                      <a:srgbClr val="2E2C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EEEEEE"/>
                          </a:solidFill>
                          <a:latin typeface="Calibri"/>
                        </a:rPr>
                        <a:t>Aporta</a:t>
                      </a:r>
                    </a:p>
                  </a:txBody>
                  <a:tcPr>
                    <a:solidFill>
                      <a:srgbClr val="2E2C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EEEEEE"/>
                          </a:solidFill>
                          <a:latin typeface="Calibri"/>
                        </a:rPr>
                        <a:t>Comparación</a:t>
                      </a:r>
                    </a:p>
                  </a:txBody>
                  <a:tcPr>
                    <a:solidFill>
                      <a:srgbClr val="2E2C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EEEEEE"/>
                          </a:solidFill>
                          <a:latin typeface="Calibri"/>
                        </a:rPr>
                        <a:t>1K × 100</a:t>
                      </a:r>
                    </a:p>
                  </a:txBody>
                  <a:tcPr>
                    <a:solidFill>
                      <a:srgbClr val="2E2C2D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Grafo ponderado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Cross-selling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Solo compras con order_id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Demo: 2 órdenes sintéticas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PageRank</a:t>
                      </a:r>
                    </a:p>
                  </a:txBody>
                  <a:tcPr>
                    <a:solidFill>
                      <a:srgbClr val="F4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Influencia global</a:t>
                      </a:r>
                    </a:p>
                  </a:txBody>
                  <a:tcPr>
                    <a:solidFill>
                      <a:srgbClr val="F4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Ranking por grado</a:t>
                      </a:r>
                    </a:p>
                  </a:txBody>
                  <a:tcPr>
                    <a:solidFill>
                      <a:srgbClr val="F4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Top-20 coincide 90 %</a:t>
                      </a:r>
                    </a:p>
                  </a:txBody>
                  <a:tcPr>
                    <a:solidFill>
                      <a:srgbClr val="F4F3F3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Louvain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Comunidades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Label Propagation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Q = 0,868 ± 0,001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11480" y="3657600"/>
            <a:ext cx="8321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E4B4C"/>
                </a:solidFill>
                <a:latin typeface="Calibri"/>
              </a:rPr>
              <a:t>Compras históricas sin orden se cuentan (purchases_without_order) y no entran al grafo. ARI Louvain 0,723 ± 0,064 vs primera corrida. El benchmark de grafo grande usa órdenes simuladas de 3 productos.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47731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E4B4C"/>
                </a:solidFill>
                <a:latin typeface="Calibri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773168"/>
            <a:ext cx="7498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4B4C"/>
                </a:solidFill>
                <a:latin typeface="Calibri"/>
              </a:rPr>
              <a:t>UTEC · EDA 2026-2 · Pipeline de comercio electrónico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0000" cy="5143500"/>
          </a:xfrm>
          <a:prstGeom prst="rect">
            <a:avLst/>
          </a:prstGeom>
          <a:solidFill>
            <a:srgbClr val="00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89320" y="201168"/>
            <a:ext cx="2788920" cy="384048"/>
          </a:xfrm>
          <a:prstGeom prst="roundRect">
            <a:avLst/>
          </a:prstGeom>
          <a:solidFill>
            <a:srgbClr val="2E2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40" y="237744"/>
            <a:ext cx="2697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EEEEE"/>
                </a:solidFill>
                <a:latin typeface="Calibri"/>
              </a:rPr>
              <a:t>Guillermo Calderón  ·  Etapas 7–9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011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4E4B4C"/>
                </a:solidFill>
                <a:latin typeface="Calibri"/>
              </a:rPr>
              <a:t>Etapa 9 · servicio: Trie, Top-K y ranking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21792"/>
            <a:ext cx="8138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8A99"/>
                </a:solidFill>
                <a:latin typeface="Calibri"/>
              </a:rPr>
              <a:t>Salida observable exigida por la rúbrica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051560"/>
            <a:ext cx="832104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234440"/>
            <a:ext cx="7955279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E4B4C"/>
                </a:solidFill>
                <a:latin typeface="Calibri"/>
              </a:rPr>
              <a:t>Trie: autocompletado de «producto {id}».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4E4B4C"/>
                </a:solidFill>
                <a:latin typeface="Calibri"/>
              </a:rPr>
              <a:t>Heap Top-K: popularidad de compras aceptadas.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4E4B4C"/>
                </a:solidFill>
                <a:latin typeface="Calibri"/>
              </a:rPr>
              <a:t>recommend() une señales: HNSW, rango B+, KD, co-compra, canasta similar y PageRank.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4E4B4C"/>
                </a:solidFill>
                <a:latin typeface="Calibri"/>
              </a:rPr>
              <a:t>Pesos: cobuy ×2, ann/similar_basket ×1, kd/precio ×0,2 + PageRank.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4E4B4C"/>
                </a:solidFill>
                <a:latin typeface="Calibri"/>
              </a:rPr>
              <a:t>Última corrida 1K: 1.000+8 eventos, 3 lotes, 0 rechazos, 2 alertas, 12 compras aceptadas.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4E4B4C"/>
                </a:solidFill>
                <a:latin typeface="Calibri"/>
              </a:rPr>
              <a:t>El visor (main.py) observa el mismo EcommercePipeline; las pausas no son benchmark.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47731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E4B4C"/>
                </a:solidFill>
                <a:latin typeface="Calibri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773168"/>
            <a:ext cx="7498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4B4C"/>
                </a:solidFill>
                <a:latin typeface="Calibri"/>
              </a:rPr>
              <a:t>UTEC · EDA 2026-2 · Pipeline de comercio electrónico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89320" y="201168"/>
            <a:ext cx="2788920" cy="384048"/>
          </a:xfrm>
          <a:prstGeom prst="roundRect">
            <a:avLst/>
          </a:prstGeom>
          <a:solidFill>
            <a:srgbClr val="2E2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0" y="237744"/>
            <a:ext cx="2697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EEEEE"/>
                </a:solidFill>
                <a:latin typeface="Calibri"/>
              </a:rPr>
              <a:t>Guillermo Calderón  ·  Etapas 7–9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EEEEE"/>
                </a:solidFill>
                <a:latin typeface="Calibri"/>
              </a:rPr>
              <a:t>Demo 3–4 min · qué observar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8138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D2E9"/>
                </a:solidFill>
                <a:latin typeface="Calibri"/>
              </a:rPr>
              <a:t>python main.py · http://127.0.0.1:8765 · mismo motor que --sin-visor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097280"/>
            <a:ext cx="4023360" cy="1280160"/>
          </a:xfrm>
          <a:prstGeom prst="roundRect">
            <a:avLst/>
          </a:prstGeom>
          <a:solidFill>
            <a:srgbClr val="2E2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D2E9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2618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EEEEE"/>
                </a:solidFill>
                <a:latin typeface="Calibri"/>
              </a:rPr>
              <a:t>Ejecutar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6002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B5B6"/>
                </a:solidFill>
                <a:latin typeface="Calibri"/>
              </a:rPr>
              <a:t>Seleccionar 2 s/etapa. Ver FIFO → heap → SQLite.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1097280"/>
            <a:ext cx="4023360" cy="1280160"/>
          </a:xfrm>
          <a:prstGeom prst="roundRect">
            <a:avLst/>
          </a:prstGeom>
          <a:solidFill>
            <a:srgbClr val="2E2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1234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D2E9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12618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EEEEE"/>
                </a:solidFill>
                <a:latin typeface="Calibri"/>
              </a:rPr>
              <a:t>Etapa 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16002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B5B6"/>
                </a:solidFill>
                <a:latin typeface="Calibri"/>
              </a:rPr>
              <a:t>Las 2 alertas de sim-user-99. El resto sigue.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2514600"/>
            <a:ext cx="4023360" cy="1280160"/>
          </a:xfrm>
          <a:prstGeom prst="roundRect">
            <a:avLst/>
          </a:prstGeom>
          <a:solidFill>
            <a:srgbClr val="2E2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651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D2E9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26791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EEEEE"/>
                </a:solidFill>
                <a:latin typeface="Calibri"/>
              </a:rPr>
              <a:t>Consultas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0175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B5B6"/>
                </a:solidFill>
                <a:latin typeface="Calibri"/>
              </a:rPr>
              <a:t>Rango de precio, prefijo «pro», Top-K.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2514600"/>
            <a:ext cx="4023360" cy="1280160"/>
          </a:xfrm>
          <a:prstGeom prst="roundRect">
            <a:avLst/>
          </a:prstGeom>
          <a:solidFill>
            <a:srgbClr val="2E2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0" y="2651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D2E9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9240" y="26791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EEEEE"/>
                </a:solidFill>
                <a:latin typeface="Calibri"/>
              </a:rPr>
              <a:t>Ranking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240" y="30175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B5B6"/>
                </a:solidFill>
                <a:latin typeface="Calibri"/>
              </a:rPr>
              <a:t>Abrir una recomendación y leer signals.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47731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0D2E9"/>
                </a:solidFill>
                <a:latin typeface="Calibri"/>
              </a:rPr>
              <a:t>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4773168"/>
            <a:ext cx="7498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8B5B6"/>
                </a:solidFill>
                <a:latin typeface="Calibri"/>
              </a:rPr>
              <a:t>UTEC · EDA 2026-2 · Pipeline de comercio electrónico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0000" cy="5143500"/>
          </a:xfrm>
          <a:prstGeom prst="rect">
            <a:avLst/>
          </a:prstGeom>
          <a:solidFill>
            <a:srgbClr val="00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89320" y="201168"/>
            <a:ext cx="2788920" cy="384048"/>
          </a:xfrm>
          <a:prstGeom prst="roundRect">
            <a:avLst/>
          </a:prstGeom>
          <a:solidFill>
            <a:srgbClr val="2E2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40" y="237744"/>
            <a:ext cx="2697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EEEEE"/>
                </a:solidFill>
                <a:latin typeface="Calibri"/>
              </a:rPr>
              <a:t>Equipo  ·  Cierre y evidencia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011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4E4B4C"/>
                </a:solidFill>
                <a:latin typeface="Calibri"/>
              </a:rPr>
              <a:t>Experimentos 1K · 100 repeticiones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21792"/>
            <a:ext cx="8138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8A99"/>
                </a:solidFill>
                <a:latin typeface="Calibri"/>
              </a:rPr>
              <a:t>Windows 11 · Python 3.14.4 · semilla 42 · media ± desviación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05840"/>
          <a:ext cx="850392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5980"/>
                <a:gridCol w="2125980"/>
                <a:gridCol w="2125980"/>
                <a:gridCol w="2125980"/>
              </a:tblGrid>
              <a:tr h="463731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EEEEEE"/>
                          </a:solidFill>
                          <a:latin typeface="Calibri"/>
                        </a:rPr>
                        <a:t>Familia</a:t>
                      </a:r>
                    </a:p>
                  </a:txBody>
                  <a:tcPr>
                    <a:solidFill>
                      <a:srgbClr val="2E2C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EEEEEE"/>
                          </a:solidFill>
                          <a:latin typeface="Calibri"/>
                        </a:rPr>
                        <a:t>Método / control</a:t>
                      </a:r>
                    </a:p>
                  </a:txBody>
                  <a:tcPr>
                    <a:solidFill>
                      <a:srgbClr val="2E2C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EEEEEE"/>
                          </a:solidFill>
                          <a:latin typeface="Calibri"/>
                        </a:rPr>
                        <a:t>Total A / B (ms)</a:t>
                      </a:r>
                    </a:p>
                  </a:txBody>
                  <a:tcPr>
                    <a:solidFill>
                      <a:srgbClr val="2E2C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EEEEEE"/>
                          </a:solidFill>
                          <a:latin typeface="Calibri"/>
                        </a:rPr>
                        <a:t>Pico A / B (KiB)</a:t>
                      </a:r>
                    </a:p>
                  </a:txBody>
                  <a:tcPr>
                    <a:solidFill>
                      <a:srgbClr val="2E2C2D"/>
                    </a:solidFill>
                  </a:tcPr>
                </a:tc>
              </a:tr>
              <a:tr h="463731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6 Mentor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Bloom / 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7,14 / 0,52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1,7 / 48,3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3731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6 Mentor</a:t>
                      </a:r>
                    </a:p>
                  </a:txBody>
                  <a:tcPr>
                    <a:solidFill>
                      <a:srgbClr val="F4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CMS / Counter</a:t>
                      </a:r>
                    </a:p>
                  </a:txBody>
                  <a:tcPr>
                    <a:solidFill>
                      <a:srgbClr val="F4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16,10 / 0,48</a:t>
                      </a:r>
                    </a:p>
                  </a:txBody>
                  <a:tcPr>
                    <a:solidFill>
                      <a:srgbClr val="F4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95,4 / 35,2</a:t>
                      </a:r>
                    </a:p>
                  </a:txBody>
                  <a:tcPr>
                    <a:solidFill>
                      <a:srgbClr val="F4F3F3"/>
                    </a:solidFill>
                  </a:tcPr>
                </a:tc>
              </a:tr>
              <a:tr h="463731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7 Guillermo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LSH / Jaccard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55,33 / 6,17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2.369 / 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3731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7 Guillermo</a:t>
                      </a:r>
                    </a:p>
                  </a:txBody>
                  <a:tcPr>
                    <a:solidFill>
                      <a:srgbClr val="F4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HNSW / KNN</a:t>
                      </a:r>
                    </a:p>
                  </a:txBody>
                  <a:tcPr>
                    <a:solidFill>
                      <a:srgbClr val="F4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1.427 / 19,22</a:t>
                      </a:r>
                    </a:p>
                  </a:txBody>
                  <a:tcPr>
                    <a:solidFill>
                      <a:srgbClr val="F4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802 / 42</a:t>
                      </a:r>
                    </a:p>
                  </a:txBody>
                  <a:tcPr>
                    <a:solidFill>
                      <a:srgbClr val="F4F3F3"/>
                    </a:solidFill>
                  </a:tcPr>
                </a:tc>
              </a:tr>
              <a:tr h="463731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8 Guillermo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PageRank / grado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5,85 / 1,65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271 / 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373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8 Guillermo</a:t>
                      </a:r>
                    </a:p>
                  </a:txBody>
                  <a:tcPr>
                    <a:solidFill>
                      <a:srgbClr val="F4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Louvain / LPA</a:t>
                      </a:r>
                    </a:p>
                  </a:txBody>
                  <a:tcPr>
                    <a:solidFill>
                      <a:srgbClr val="F4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93,61 / 43,85</a:t>
                      </a:r>
                    </a:p>
                  </a:txBody>
                  <a:tcPr>
                    <a:solidFill>
                      <a:srgbClr val="F4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857 / 132</a:t>
                      </a:r>
                    </a:p>
                  </a:txBody>
                  <a:tcPr>
                    <a:solidFill>
                      <a:srgbClr val="F4F3F3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138160" y="47731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E4B4C"/>
                </a:solidFill>
                <a:latin typeface="Calibri"/>
              </a:rP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4773168"/>
            <a:ext cx="7498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4B4C"/>
                </a:solidFill>
                <a:latin typeface="Calibri"/>
              </a:rPr>
              <a:t>UTEC · EDA 2026-2 · Pipeline de comercio electrónico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0000" cy="5143500"/>
          </a:xfrm>
          <a:prstGeom prst="rect">
            <a:avLst/>
          </a:prstGeom>
          <a:solidFill>
            <a:srgbClr val="00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89320" y="201168"/>
            <a:ext cx="2788920" cy="384048"/>
          </a:xfrm>
          <a:prstGeom prst="roundRect">
            <a:avLst/>
          </a:prstGeom>
          <a:solidFill>
            <a:srgbClr val="2E2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40" y="237744"/>
            <a:ext cx="2697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EEEEE"/>
                </a:solidFill>
                <a:latin typeface="Calibri"/>
              </a:rPr>
              <a:t>Equipo  ·  Cierre y evidencia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011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4E4B4C"/>
                </a:solidFill>
                <a:latin typeface="Calibri"/>
              </a:rPr>
              <a:t>Escala 10K–10M y lo que no se declara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21792"/>
            <a:ext cx="8138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8A99"/>
                </a:solidFill>
                <a:latin typeface="Calibri"/>
              </a:rPr>
              <a:t>1 repetición por tamaño · recortes registrados en JSON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1051560"/>
          <a:ext cx="83210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0260"/>
                <a:gridCol w="2080260"/>
                <a:gridCol w="2080260"/>
                <a:gridCol w="2080260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EEEEEE"/>
                          </a:solidFill>
                          <a:latin typeface="Calibri"/>
                        </a:rPr>
                        <a:t>Eventos</a:t>
                      </a:r>
                    </a:p>
                  </a:txBody>
                  <a:tcPr>
                    <a:solidFill>
                      <a:srgbClr val="2E2C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EEEEEE"/>
                          </a:solidFill>
                          <a:latin typeface="Calibri"/>
                        </a:rPr>
                        <a:t>Claves distintas</a:t>
                      </a:r>
                    </a:p>
                  </a:txBody>
                  <a:tcPr>
                    <a:solidFill>
                      <a:srgbClr val="2E2C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EEEEEE"/>
                          </a:solidFill>
                          <a:latin typeface="Calibri"/>
                        </a:rPr>
                        <a:t>Vectores / conjuntos</a:t>
                      </a:r>
                    </a:p>
                  </a:txBody>
                  <a:tcPr>
                    <a:solidFill>
                      <a:srgbClr val="2E2C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EEEEEE"/>
                          </a:solidFill>
                          <a:latin typeface="Calibri"/>
                        </a:rPr>
                        <a:t>Qué sí se midió completo</a:t>
                      </a:r>
                    </a:p>
                  </a:txBody>
                  <a:tcPr>
                    <a:solidFill>
                      <a:srgbClr val="2E2C2D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10K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4.270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300 / 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Bloom y CMS: todas las claves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100K</a:t>
                      </a:r>
                    </a:p>
                  </a:txBody>
                  <a:tcPr>
                    <a:solidFill>
                      <a:srgbClr val="F4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20.675</a:t>
                      </a:r>
                    </a:p>
                  </a:txBody>
                  <a:tcPr>
                    <a:solidFill>
                      <a:srgbClr val="F4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300 / 300</a:t>
                      </a:r>
                    </a:p>
                  </a:txBody>
                  <a:tcPr>
                    <a:solidFill>
                      <a:srgbClr val="F4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Igual</a:t>
                      </a:r>
                    </a:p>
                  </a:txBody>
                  <a:tcPr>
                    <a:solidFill>
                      <a:srgbClr val="F4F3F3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1M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66.001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300 / 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Igual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10M</a:t>
                      </a:r>
                    </a:p>
                  </a:txBody>
                  <a:tcPr>
                    <a:solidFill>
                      <a:srgbClr val="F4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133.917</a:t>
                      </a:r>
                    </a:p>
                  </a:txBody>
                  <a:tcPr>
                    <a:solidFill>
                      <a:srgbClr val="F4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300 / 300</a:t>
                      </a:r>
                    </a:p>
                  </a:txBody>
                  <a:tcPr>
                    <a:solidFill>
                      <a:srgbClr val="F4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E4B4C"/>
                          </a:solidFill>
                          <a:latin typeface="Calibri"/>
                        </a:rPr>
                        <a:t>Igual</a:t>
                      </a:r>
                    </a:p>
                  </a:txBody>
                  <a:tcPr>
                    <a:solidFill>
                      <a:srgbClr val="F4F3F3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11480" y="3200400"/>
            <a:ext cx="8321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E4B4C"/>
                </a:solidFill>
                <a:latin typeface="Calibri"/>
              </a:rPr>
              <a:t>HNSW no se acredita con 10M vectores. El grafo experimental usa 900 eventos. tracemalloc = pico Python; RSS antes/después no es pico nativo. Dataset real sin order_id: la co-compra de negocio se demuestra con el escenario declarado.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47731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E4B4C"/>
                </a:solidFill>
                <a:latin typeface="Calibri"/>
              </a:rP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773168"/>
            <a:ext cx="7498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4B4C"/>
                </a:solidFill>
                <a:latin typeface="Calibri"/>
              </a:rPr>
              <a:t>UTEC · EDA 2026-2 · Pipeline de comercio electrónico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89320" y="201168"/>
            <a:ext cx="2788920" cy="384048"/>
          </a:xfrm>
          <a:prstGeom prst="roundRect">
            <a:avLst/>
          </a:prstGeom>
          <a:solidFill>
            <a:srgbClr val="2E2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0" y="237744"/>
            <a:ext cx="2697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EEEEE"/>
                </a:solidFill>
                <a:latin typeface="Calibri"/>
              </a:rPr>
              <a:t>Equipo  ·  Cierre y evidencia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EEEEE"/>
                </a:solidFill>
                <a:latin typeface="Calibri"/>
              </a:rPr>
              <a:t>Cierre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8138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D2E9"/>
                </a:solidFill>
                <a:latin typeface="Calibri"/>
              </a:rPr>
              <a:t>Integración verificable + límites explícitos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097280"/>
            <a:ext cx="4023360" cy="3017520"/>
          </a:xfrm>
          <a:prstGeom prst="roundRect">
            <a:avLst/>
          </a:prstGeom>
          <a:solidFill>
            <a:srgbClr val="2E2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09160" y="1097280"/>
            <a:ext cx="4023360" cy="3017520"/>
          </a:xfrm>
          <a:prstGeom prst="roundRect">
            <a:avLst/>
          </a:prstGeom>
          <a:solidFill>
            <a:srgbClr val="2E2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234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2E9"/>
                </a:solidFill>
                <a:latin typeface="Calibri"/>
              </a:rPr>
              <a:t>Cumplido en código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91640"/>
            <a:ext cx="3657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EEEEEE"/>
                </a:solidFill>
                <a:latin typeface="Calibri"/>
              </a:rPr>
              <a:t>10 etapas, estado entre lotes.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EEEEEE"/>
                </a:solidFill>
                <a:latin typeface="Calibri"/>
              </a:rPr>
              <a:t>Familias [FIJA] con control exacto.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EEEEEE"/>
                </a:solidFill>
                <a:latin typeface="Calibri"/>
              </a:rPr>
              <a:t>Persistencia B+ y eventos.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EEEEEE"/>
                </a:solidFill>
                <a:latin typeface="Calibri"/>
              </a:rPr>
              <a:t>Demo y pruebas automatizadas.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234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2E9"/>
                </a:solidFill>
                <a:latin typeface="Calibri"/>
              </a:rPr>
              <a:t>No sobredeclarar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1691640"/>
            <a:ext cx="3657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EEEEEE"/>
                </a:solidFill>
                <a:latin typeface="Calibri"/>
              </a:rPr>
              <a:t>1K es la carga estadística.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EEEEEE"/>
                </a:solidFill>
                <a:latin typeface="Calibri"/>
              </a:rPr>
              <a:t>10K–10M son exploratorias.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EEEEEE"/>
                </a:solidFill>
                <a:latin typeface="Calibri"/>
              </a:rPr>
              <a:t>Sin relevancia comercial real.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EEEEEE"/>
                </a:solidFill>
                <a:latin typeface="Calibri"/>
              </a:rPr>
              <a:t>Servidor local, no producción.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47731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0D2E9"/>
                </a:solidFill>
                <a:latin typeface="Calibri"/>
              </a:rPr>
              <a:t>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773168"/>
            <a:ext cx="7498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8B5B6"/>
                </a:solidFill>
                <a:latin typeface="Calibri"/>
              </a:rPr>
              <a:t>UTEC · EDA 2026-2 · Pipeline de comercio electrónico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